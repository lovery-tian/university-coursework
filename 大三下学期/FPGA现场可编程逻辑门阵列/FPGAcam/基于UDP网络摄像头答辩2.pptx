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335"/>
            <a:ext cx="12192000" cy="6858000"/>
          </a:xfrm>
          <a:prstGeom prst="rect">
            <a:avLst/>
          </a:prstGeom>
          <a:gradFill rotWithShape="1">
            <a:gsLst>
              <a:gs pos="0">
                <a:srgbClr val="12021E"/>
              </a:gs>
              <a:gs pos="100000">
                <a:srgbClr val="3D085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33420" y="581025"/>
            <a:ext cx="6115685" cy="369570"/>
          </a:xfrm>
          <a:prstGeom prst="roundRect">
            <a:avLst/>
          </a:prstGeom>
          <a:solidFill>
            <a:srgbClr val="2A0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7E6E6"/>
                </a:solidFill>
                <a:latin typeface="思源黑体 CN Bold"/>
              </a:rPr>
              <a:t>西安培华学院 智能科学与工程学院 项目工程实践答辩</a:t>
            </a:r>
            <a:endParaRPr sz="18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65172" y="765418"/>
            <a:ext cx="787211" cy="5000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3967" y="765418"/>
            <a:ext cx="787211" cy="5000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-5383" y="1174591"/>
            <a:ext cx="12194693" cy="2869435"/>
          </a:xfrm>
          <a:prstGeom prst="roundRect">
            <a:avLst/>
          </a:prstGeom>
          <a:solidFill>
            <a:srgbClr val="350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1995" y="1352800"/>
            <a:ext cx="10748010" cy="119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思源宋体 CN Heavy"/>
              </a:rPr>
              <a:t>基于UDP协议的网络摄像头</a:t>
            </a:r>
            <a:endParaRPr sz="7200" b="1">
              <a:solidFill>
                <a:srgbClr val="FFFFFF"/>
              </a:solidFill>
              <a:latin typeface="思源宋体 CN Heav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9242" y="2893534"/>
            <a:ext cx="10033516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思源宋体 CN Heavy"/>
              </a:rPr>
              <a:t>系统设计与实现</a:t>
            </a:r>
            <a:endParaRPr sz="4800" b="1">
              <a:solidFill>
                <a:srgbClr val="FFFFFF"/>
              </a:solidFill>
              <a:latin typeface="思源宋体 CN Heavy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192145" y="4067175"/>
            <a:ext cx="6550660" cy="869950"/>
          </a:xfrm>
          <a:prstGeom prst="roundRect">
            <a:avLst/>
          </a:prstGeom>
          <a:solidFill>
            <a:srgbClr val="500A70"/>
          </a:solidFill>
          <a:ln w="25400">
            <a:solidFill>
              <a:srgbClr val="9B3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9B30B5"/>
                </a:solidFill>
                <a:latin typeface="思源黑体 CN Bold"/>
              </a:rPr>
              <a:t>汇报人：</a:t>
            </a:r>
            <a:r>
              <a:rPr lang="zh-CN" sz="2400" b="1">
                <a:solidFill>
                  <a:srgbClr val="9B30B5"/>
                </a:solidFill>
                <a:latin typeface="思源黑体 CN Bold"/>
              </a:rPr>
              <a:t>曾俊超</a:t>
            </a:r>
            <a:r>
              <a:rPr sz="2400" b="1">
                <a:solidFill>
                  <a:srgbClr val="9B30B5"/>
                </a:solidFill>
                <a:latin typeface="思源黑体 CN Bold"/>
              </a:rPr>
              <a:t>    学号：</a:t>
            </a:r>
            <a:r>
              <a:rPr lang="en-US" sz="2400" b="1">
                <a:solidFill>
                  <a:srgbClr val="9B30B5"/>
                </a:solidFill>
                <a:latin typeface="思源黑体 CN Bold"/>
              </a:rPr>
              <a:t>20232B1123</a:t>
            </a:r>
            <a:endParaRPr lang="en-US" sz="2400" b="1">
              <a:solidFill>
                <a:srgbClr val="9B30B5"/>
              </a:solidFill>
              <a:latin typeface="思源黑体 CN 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8779" y="5191108"/>
            <a:ext cx="96744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7E6E6"/>
                </a:solidFill>
                <a:latin typeface="思源黑体 CN Bold"/>
              </a:rPr>
              <a:t>专业：电子信息工程2023级    指导教师：阮黎婷</a:t>
            </a:r>
            <a:endParaRPr sz="20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58779" y="5763693"/>
            <a:ext cx="96744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7E6E6"/>
                </a:solidFill>
                <a:latin typeface="思源黑体 CN Bold"/>
              </a:rPr>
              <a:t>实践时间：2026年5月—6月</a:t>
            </a:r>
            <a:endParaRPr sz="20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67892" cy="6858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92213" y="767450"/>
            <a:ext cx="9807575" cy="532310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0000" y="2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思源宋体 CN Heavy"/>
              </a:rPr>
              <a:t>目  录</a:t>
            </a:r>
            <a:endParaRPr sz="6000" b="1">
              <a:solidFill>
                <a:srgbClr val="FFFFFF"/>
              </a:solidFill>
              <a:latin typeface="思源宋体 CN Heavy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0000" y="2800000"/>
            <a:ext cx="3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E7E6E6"/>
                </a:solidFill>
                <a:latin typeface="思源黑体 CN Bold"/>
              </a:rPr>
              <a:t>CONTENTS</a:t>
            </a:r>
            <a:endParaRPr sz="24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6" name="Oval 5"/>
          <p:cNvSpPr/>
          <p:nvPr/>
        </p:nvSpPr>
        <p:spPr>
          <a:xfrm>
            <a:off x="5200000" y="1080000"/>
            <a:ext cx="460000" cy="460000"/>
          </a:xfrm>
          <a:prstGeom prst="ellipse">
            <a:avLst/>
          </a:prstGeom>
          <a:solidFill>
            <a:srgbClr val="771395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30000" y="112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01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00000" y="1080000"/>
            <a:ext cx="4600000" cy="46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00000" y="113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思源黑体 CN Heavy"/>
              </a:rPr>
              <a:t>项目背景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200000" y="170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30000" y="174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02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800000" y="170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0000" y="175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实践目标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200000" y="232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000" y="236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03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800000" y="232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0000" y="237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硬件平台介绍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200000" y="294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000" y="298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04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800000" y="294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0000" y="299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系统总体数据流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200000" y="356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000" y="360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05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00000" y="356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00000" y="361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关键技术实现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200000" y="418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0000" y="422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06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800000" y="418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00000" y="423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实验环境与步骤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200000" y="480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30000" y="484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07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5800000" y="480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0000" y="485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结果展示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200000" y="5420000"/>
            <a:ext cx="460000" cy="460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713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000" y="5460000"/>
            <a:ext cx="4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771395"/>
                </a:solidFill>
                <a:latin typeface="思源黑体 CN Heavy"/>
              </a:rPr>
              <a:t>08</a:t>
            </a:r>
            <a:endParaRPr sz="22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800000" y="5420000"/>
            <a:ext cx="4600000" cy="460000"/>
          </a:xfrm>
          <a:prstGeom prst="round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00000" y="5470000"/>
            <a:ext cx="42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A1A2E"/>
                </a:solidFill>
                <a:latin typeface="思源黑体 CN Heavy"/>
              </a:rPr>
              <a:t>总结与展望</a:t>
            </a:r>
            <a:endParaRPr sz="2200" b="1">
              <a:solidFill>
                <a:srgbClr val="1A1A2E"/>
              </a:solidFill>
              <a:latin typeface="思源黑体 CN Heavy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01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项目背景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物联网与智能监控背景下的FPGA视频传输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11200000" cy="4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6956" y="1250000"/>
            <a:ext cx="10960000" cy="4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思源黑体 CN Bold"/>
              </a:rPr>
              <a:t>• 物联网与智能监控快速发展，实时视频传输需求增加</a:t>
            </a:r>
            <a:endParaRPr sz="18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思源黑体 CN Bold"/>
              </a:rPr>
              <a:t>• 传统方案依赖CPU/GPU，实时性与成本难以兼顾</a:t>
            </a:r>
            <a:endParaRPr sz="18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思源黑体 CN Bold"/>
              </a:rPr>
              <a:t>• FPGA（XC7A35T）具备并行处理与可重构优势</a:t>
            </a:r>
            <a:endParaRPr sz="18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333333"/>
                </a:solidFill>
                <a:latin typeface="思源黑体 CN Bold"/>
              </a:rPr>
              <a:t>• UDP协议低延迟、无连接开销，适合视频流传输</a:t>
            </a:r>
            <a:endParaRPr sz="18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800" b="1">
                <a:solidFill>
                  <a:srgbClr val="C00000"/>
                </a:solidFill>
                <a:latin typeface="思源黑体 CN Bold"/>
              </a:rPr>
              <a:t>• 本项目以产品化为导向，构建完整UDP网络摄像头系统</a:t>
            </a:r>
            <a:endParaRPr sz="1800" b="1">
              <a:solidFill>
                <a:srgbClr val="C00000"/>
              </a:solidFill>
              <a:latin typeface="思源黑体 CN 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FPGA + UDP协议，实现低成本、低延迟的实时视频传输方案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02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实践目标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系统开发的五大核心目标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0000" y="123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000" y="1270000"/>
            <a:ext cx="44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思源黑体 CN Heavy"/>
              </a:rPr>
              <a:t>01</a:t>
            </a:r>
            <a:endParaRPr sz="26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150000" y="1220000"/>
            <a:ext cx="105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50000" y="1280000"/>
            <a:ext cx="10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思源黑体 CN Bold"/>
              </a:rPr>
              <a:t>掌握FPGA系统集成与Vivado 2019.2开发流程</a:t>
            </a:r>
            <a:endParaRPr sz="18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00000" y="211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000" y="2150000"/>
            <a:ext cx="44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思源黑体 CN Heavy"/>
              </a:rPr>
              <a:t>02</a:t>
            </a:r>
            <a:endParaRPr sz="26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150000" y="2100000"/>
            <a:ext cx="105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50000" y="2160000"/>
            <a:ext cx="10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思源黑体 CN Bold"/>
              </a:rPr>
              <a:t>实现GC0308摄像头I2C驱动与RGB565→RGB888转换</a:t>
            </a:r>
            <a:endParaRPr sz="18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0000" y="299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000" y="3030000"/>
            <a:ext cx="44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思源黑体 CN Heavy"/>
              </a:rPr>
              <a:t>03</a:t>
            </a:r>
            <a:endParaRPr sz="26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50000" y="2980000"/>
            <a:ext cx="105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0000" y="3040000"/>
            <a:ext cx="10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思源黑体 CN Bold"/>
              </a:rPr>
              <a:t>构建基于AXI4总线的FDMA DDR3数据缓存架构</a:t>
            </a:r>
            <a:endParaRPr sz="18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00000" y="387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000" y="3910000"/>
            <a:ext cx="44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思源黑体 CN Heavy"/>
              </a:rPr>
              <a:t>04</a:t>
            </a:r>
            <a:endParaRPr sz="26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150000" y="3860000"/>
            <a:ext cx="105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0000" y="3920000"/>
            <a:ext cx="10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思源黑体 CN Bold"/>
              </a:rPr>
              <a:t>完成千兆以太网UDP协议栈集成与视频传输</a:t>
            </a:r>
            <a:endParaRPr sz="18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00000" y="4750000"/>
            <a:ext cx="500000" cy="50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000" y="4790000"/>
            <a:ext cx="44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思源黑体 CN Heavy"/>
              </a:rPr>
              <a:t>05</a:t>
            </a:r>
            <a:endParaRPr sz="26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150000" y="4740000"/>
            <a:ext cx="1050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50000" y="4800000"/>
            <a:ext cx="101000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A1A2E"/>
                </a:solidFill>
                <a:latin typeface="思源黑体 CN Bold"/>
              </a:rPr>
              <a:t>验证上位机端到端视频显示功能</a:t>
            </a:r>
            <a:endParaRPr sz="18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五大目标覆盖FPGA开发全流程：采集→缓存→传输→显示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03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硬件平台介绍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系统核心硬件组成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1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6956" y="1200000"/>
            <a:ext cx="60000" cy="75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000" y="1280000"/>
            <a:ext cx="2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71395"/>
                </a:solidFill>
                <a:latin typeface="思源黑体 CN Heavy"/>
              </a:rPr>
              <a:t>FPGA主控</a:t>
            </a:r>
            <a:endParaRPr sz="18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00000" y="128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思源黑体 CN Bold"/>
              </a:rPr>
              <a:t>XC7A35T-FGG484（25MHz有源晶振）</a:t>
            </a:r>
            <a:endParaRPr sz="170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6956" y="2100000"/>
            <a:ext cx="1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6956" y="2100000"/>
            <a:ext cx="60000" cy="75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0000" y="2180000"/>
            <a:ext cx="2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71395"/>
                </a:solidFill>
                <a:latin typeface="思源黑体 CN Heavy"/>
              </a:rPr>
              <a:t>DDR3内存</a:t>
            </a:r>
            <a:endParaRPr sz="18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00000" y="218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思源黑体 CN Bold"/>
              </a:rPr>
              <a:t>MT41K128M16JT-125（1.5V供电，16位数据总线）</a:t>
            </a:r>
            <a:endParaRPr sz="170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86956" y="3000000"/>
            <a:ext cx="1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6956" y="3000000"/>
            <a:ext cx="60000" cy="75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0000" y="3080000"/>
            <a:ext cx="2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71395"/>
                </a:solidFill>
                <a:latin typeface="思源黑体 CN Heavy"/>
              </a:rPr>
              <a:t>以太网PHY</a:t>
            </a:r>
            <a:endParaRPr sz="18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00000" y="308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思源黑体 CN Bold"/>
              </a:rPr>
              <a:t>YT8531（RGMII接口，支持10/100/1000M）</a:t>
            </a:r>
            <a:endParaRPr sz="170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86956" y="3900000"/>
            <a:ext cx="1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6956" y="3900000"/>
            <a:ext cx="60000" cy="75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000" y="3980000"/>
            <a:ext cx="2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71395"/>
                </a:solidFill>
                <a:latin typeface="思源黑体 CN Heavy"/>
              </a:rPr>
              <a:t>摄像头</a:t>
            </a:r>
            <a:endParaRPr sz="18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00000" y="398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思源黑体 CN Bold"/>
              </a:rPr>
              <a:t>GC0308（MIPI接口，2对数据通道+1对时钟）</a:t>
            </a:r>
            <a:endParaRPr sz="170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86956" y="4800000"/>
            <a:ext cx="11200000" cy="7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6956" y="4800000"/>
            <a:ext cx="60000" cy="75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50000" y="4880000"/>
            <a:ext cx="28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771395"/>
                </a:solidFill>
                <a:latin typeface="思源黑体 CN Heavy"/>
              </a:rPr>
              <a:t>其他外设</a:t>
            </a:r>
            <a:endParaRPr sz="1800" b="1">
              <a:solidFill>
                <a:srgbClr val="771395"/>
              </a:solidFill>
              <a:latin typeface="思源黑体 CN Heavy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00000" y="488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3333"/>
                </a:solidFill>
                <a:latin typeface="思源黑体 CN Bold"/>
              </a:rPr>
              <a:t>SPI FLASH、8个LED、4个按键、USB转串口</a:t>
            </a:r>
            <a:endParaRPr sz="170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XC7A35T + DDR3 + YT8531 PHY + GC0308摄像头，构建完整硬件平台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04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系统总体数据流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从摄像头采集到上位机显示的完整链路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00000" y="1200000"/>
            <a:ext cx="8000000" cy="4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00000" y="1400000"/>
            <a:ext cx="70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GC0308摄像头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↓（RGB565）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RGB565 → RGB888转换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↓（RGB888）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FDMA写入DDR3缓存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FDMA从DDR3读出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UDP协议栈封装（UDP头+IP头+MAC头）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Tri Mode Ethernet MAC（RGMII）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400" b="0">
                <a:solidFill>
                  <a:srgbClr val="771395"/>
                </a:solidFill>
                <a:latin typeface="思源黑体 CN Bold"/>
              </a:rPr>
              <a:t>    ↓</a:t>
            </a:r>
            <a:endParaRPr sz="1400" b="0">
              <a:solidFill>
                <a:srgbClr val="771395"/>
              </a:solidFill>
              <a:latin typeface="思源黑体 CN Bold"/>
            </a:endParaRP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YT8531 PHY → 网线 → 上位机</a:t>
            </a:r>
            <a:endParaRPr sz="17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RGB565采集 → RGB888转换 → DDR3缓存 → UDP封装 → 千兆以太网传输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05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关键技术——摄像头驱动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自定义IP核uiov0308cfg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摄像头驱动方案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C00000"/>
                </a:solidFill>
                <a:latin typeface="思源黑体 CN Bold"/>
              </a:rPr>
              <a:t>自定义IP核：uiov0308cfg</a:t>
            </a:r>
            <a:endParaRPr sz="17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通信协议：I2C（时钟SCL，数据SDA）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配置内容：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分辨率设置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输出格式（RGB565）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帧率配置</a:t>
            </a:r>
            <a:endParaRPr sz="15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0000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0000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实现方式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0000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A1A2E"/>
                </a:solidFill>
                <a:latin typeface="思源黑体 CN Bold"/>
              </a:rPr>
              <a:t>Verilog状态机模拟I2C时序</a:t>
            </a:r>
            <a:endParaRPr sz="17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上电后自动初始化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按寄存器配置表逐个写入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支持读回校验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7448"/>
                </a:solidFill>
                <a:latin typeface="思源黑体 CN Bold"/>
              </a:rPr>
              <a:t>配置完成后摄像头开始输出</a:t>
            </a:r>
            <a:endParaRPr sz="1600" b="1">
              <a:solidFill>
                <a:srgbClr val="007448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7448"/>
                </a:solidFill>
                <a:latin typeface="思源黑体 CN Bold"/>
              </a:rPr>
              <a:t>RGB565格式视频流</a:t>
            </a:r>
            <a:endParaRPr sz="1600" b="1">
              <a:solidFill>
                <a:srgbClr val="007448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I2C协议 + Verilog状态机，实现GC0308摄像头自动配置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06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关键技术——RGB565转RGB888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自定义IP核uiSensorRGB565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3600000" cy="4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为什么需要转换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RGB565：16bit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5R + 6G + 5B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摄像头直接输出，节省带宽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RGB888：24bit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8R + 8G + 8B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PC/显示器标准格式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0000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0000" y="1200000"/>
            <a:ext cx="36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转换方法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0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R通道：5bit → 8bit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低位补0或复制高位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G通道：6bit → 8bit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低位补0或复制高位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B通道：5bit → 8bit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低位补0或复制高位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0000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0000" y="1200000"/>
            <a:ext cx="36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实现要点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0000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自定义IP核：uiSensorRGB565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逐像素实时转换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不影响帧率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输出标准RGB888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供上位机直接显示</a:t>
            </a:r>
            <a:endParaRPr sz="15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RGB565→RGB888位扩展，满足PC端标准显示格式要求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07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关键技术——FDMA与DDR3缓存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基于AXI4总线的高效数据缓存架构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36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FDMA控制器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米联客自定义DMA控制器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基于AXI4-FULL协议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用户接口简化：</a:t>
            </a:r>
            <a:endParaRPr sz="15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只需提供地址、长度、读写请求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内部自动拆分256字节突发传输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00000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00000" y="1200000"/>
            <a:ext cx="36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FDMA-DBUF帧同步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20000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帧同步双缓冲IP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配合FDMA完成视频流缓存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写通道：</a:t>
            </a:r>
            <a:endParaRPr sz="15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接收摄像头数据，写入DDR3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读通道：</a:t>
            </a:r>
            <a:endParaRPr sz="15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从DDR3读出，交给UDP发送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0000" y="1200000"/>
            <a:ext cx="36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00000" y="1200000"/>
            <a:ext cx="36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MIG IP核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120000" y="1670000"/>
            <a:ext cx="33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配置DDR3控制器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生成HDL代码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处理时序和刷新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DDR3型号：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  MT41K128M16JT-125</a:t>
            </a:r>
            <a:endParaRPr sz="1500" b="1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FDMA + FDMA-DBUF + MIG，实现高效DDR3帧缓存架构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08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关键技术——UDP协议栈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米联客uiudp_stack.dcp网表文件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协议栈功能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协议栈来源：米联客uiudp_stack.dcp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（稳定可靠的网表文件，无需源码）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核心功能：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自动处理ARP请求/应答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自动响应ICMP（Ping）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UDP数据包封装与解封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• IP首部校验和生成与校验</a:t>
            </a:r>
            <a:endParaRPr sz="15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0000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0000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用户接口与发送流程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0000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用户接口：64bit AXI-Stream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时钟频率：15.625MHz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发送流程：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1. 用户提供目标IP、端口、数据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2. 协议栈添加UDP/IP/MAC头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  3. 输出给MAC发送</a:t>
            </a:r>
            <a:endParaRPr sz="15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UDP协议栈封装传输层+网络层，用户只需提供数据和目标地址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09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关键技术——以太网MAC与RGMII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千兆以太网物理层与数据链路层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55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Tri Mode Ethernet MAC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526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思源黑体 CN Bold"/>
              </a:rPr>
              <a:t>Xilinx官方IP核</a:t>
            </a:r>
            <a:endParaRPr sz="16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支持10/100/1000M自适应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RGMII接口：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• 4位数据线（TXD/RXD），双沿采样（DDR）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• 125MHz时钟 → 1000Mbps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• 控制信号：TX_CTL、RX_CTL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0000" y="1200000"/>
            <a:ext cx="5500000" cy="2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0000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位宽转换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0000" y="1670000"/>
            <a:ext cx="5260000" cy="1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UDP协议栈输出：64bit @ 15.625MHz</a:t>
            </a:r>
            <a:endParaRPr sz="15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A1A2E"/>
                </a:solidFill>
                <a:latin typeface="思源黑体 CN Bold"/>
              </a:rPr>
              <a:t>MAC输入：8bit @ 125MHz</a:t>
            </a:r>
            <a:endParaRPr sz="1500" b="1">
              <a:solidFill>
                <a:srgbClr val="1A1A2E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解决方案：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• AXI-Stream FIFO（异步+Packet mode）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• Data Width Converter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86956" y="3600000"/>
            <a:ext cx="11200000" cy="18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6956" y="3600000"/>
            <a:ext cx="112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PHY芯片：YT8531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6956" y="4070000"/>
            <a:ext cx="10960000" cy="1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通过RGMII接口与MAC连接    |    支持10/100/1000M自适应    |    网线直连上位机</a:t>
            </a:r>
            <a:endParaRPr sz="16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MAC + RGMII + 位宽桥接，实现千兆以太网物理层传输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10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Vivado工程实现——Block Design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主要IP核与系统集成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72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72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主要IP核列表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69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Clocking Wizard：25MHz → 16.625/125/200MHz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MIG：DDR3控制器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uiFDMA + uiFDMA_DBUF：DMA控制器 + 帧同步双缓冲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uiov0308cfg + uiSensorRGB565：摄像头驱动 + RGB转换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uiudp_stack + Tri Mode Ethernet MAC：UDP协议栈 + 以太网MAC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AXI-Stream FIFO ×2：跨时钟域缓冲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Data Width Converter ×2：64bit ↔ 8bit位宽转换</a:t>
            </a:r>
            <a:endParaRPr sz="15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思源黑体 CN Bold"/>
              </a:rPr>
              <a:t>• VIO：动态帧率调节</a:t>
            </a:r>
            <a:endParaRPr sz="15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00000" y="1200000"/>
            <a:ext cx="38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00000" y="1200000"/>
            <a:ext cx="38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系统集成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20000" y="1670000"/>
            <a:ext cx="35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总线互联：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AXI Interconnect连接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FDMA Master与MIG Slave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自动生成顶层：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Create HDL Wrapper</a:t>
            </a:r>
            <a:endParaRPr sz="14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时钟管理：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333333"/>
                </a:solidFill>
                <a:latin typeface="思源黑体 CN Bold"/>
              </a:rPr>
              <a:t>  多时钟域统一管理</a:t>
            </a:r>
            <a:endParaRPr sz="14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8+个IP核通过Block Design图形化集成，自动生成顶层HDL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11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实验步骤（1）——工程创建与IP配置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Vivado工程搭建流程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0000" y="12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2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1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50000" y="12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创建Vivado工程，设置芯片型号XC7A35T-FGG484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0000" y="20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000" y="20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2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0000" y="20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添加uisrc文件夹（含自定义IP源码、.dcp协议栈）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00000" y="28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28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3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0000" y="28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创建Block Design，依次添加所需IP核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0000" y="36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00" y="36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4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0000" y="36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配置MIG：选择DDR3型号MT41K128M16JT-125，设置时钟、引脚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00000" y="44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00" y="44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5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0000" y="44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配置Clocking Wizard：输入25MHz，输出16.625/125/200MHz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0000" y="52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000" y="52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思源黑体 CN Heavy"/>
              </a:rPr>
              <a:t>6</a:t>
            </a:r>
            <a:endParaRPr sz="2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0000" y="52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思源黑体 CN Bold"/>
              </a:rPr>
              <a:t>配置FDMA：设置AXI数据位宽128bit，最大突发长度256</a:t>
            </a:r>
            <a:endParaRPr sz="17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工程创建 → IP添加 → 参数配置，完成Block Design搭建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12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实验步骤（2）——集成、约束、下载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系统集成与硬件验证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6956" y="12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956" y="12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7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6956" y="12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添加UDP协议栈和MAC，连接FIFO和宽度转换器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86956" y="23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56" y="23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8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6956" y="23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添加VIO核，设置发送间隔可调（300~400对应10~15fps）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86956" y="34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56" y="34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9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6956" y="34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添加约束文件（引脚分配、时序约束）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86956" y="45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56" y="45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10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6956" y="45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运行综合、实现、生成bit流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086956" y="12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6956" y="12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11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06956" y="12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连接硬件：JTAG下载器、网线、电源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6086956" y="23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06956" y="23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12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06956" y="23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打开Vivado Hardware Manager，加载bit文件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6086956" y="34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6956" y="34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13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06956" y="34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上位机设置IP（192.168.137.1）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086956" y="4550000"/>
            <a:ext cx="420000" cy="420000"/>
          </a:xfrm>
          <a:prstGeom prst="ellipse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6956" y="4590000"/>
            <a:ext cx="380000" cy="3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14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606956" y="4560000"/>
            <a:ext cx="48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1A1A2E"/>
                </a:solidFill>
                <a:latin typeface="思源黑体 CN Bold"/>
              </a:rPr>
              <a:t>打开UDP接收工具，端口6001，开始接收</a:t>
            </a:r>
            <a:endParaRPr sz="15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系统集成 → 约束添加 → bit流生成 → 硬件下载 → 上位机接收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13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结果展示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系统功能验证与性能指标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55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功能验证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52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摄像头图像正常采集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DDR3读写正确（ILA抓取波形验证）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Wireshark能抓到UDP数据包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上位机实时显示视频（640×480，RGB888）</a:t>
            </a:r>
            <a:endParaRPr sz="16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0000" y="1200000"/>
            <a:ext cx="550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0000" y="1200000"/>
            <a:ext cx="5500000" cy="420000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性能指标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0000" y="1670000"/>
            <a:ext cx="5260000" cy="19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C00000"/>
                </a:solidFill>
                <a:latin typeface="思源黑体 CN Bold"/>
              </a:rPr>
              <a:t>帧率：10~15fps（通过VIO可动态调节）</a:t>
            </a:r>
            <a:endParaRPr sz="1600" b="1">
              <a:solidFill>
                <a:srgbClr val="C00000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07448"/>
                </a:solidFill>
                <a:latin typeface="思源黑体 CN Bold"/>
              </a:rPr>
              <a:t>图像质量：色彩正常，无撕裂</a:t>
            </a:r>
            <a:endParaRPr sz="1600" b="1">
              <a:solidFill>
                <a:srgbClr val="007448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分辨率：640×480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传输协议：UDP over 千兆以太网</a:t>
            </a:r>
            <a:endParaRPr sz="16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成功实现端到端UDP网络视频传输，图像清晰、色彩正常、无撕裂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14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遇到的问题与解决方案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调试过程中遇到的关键技术难题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6956" y="1200000"/>
          <a:ext cx="115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/>
                <a:gridCol w="2800000"/>
                <a:gridCol w="6200000"/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思源黑体 CN Bold"/>
                        </a:rPr>
                        <a:t>问题</a:t>
                      </a:r>
                      <a:endParaRPr sz="1300" b="1">
                        <a:solidFill>
                          <a:srgbClr val="FFFFFF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思源黑体 CN Bold"/>
                        </a:rPr>
                        <a:t>原因</a:t>
                      </a:r>
                      <a:endParaRPr sz="1300" b="1">
                        <a:solidFill>
                          <a:srgbClr val="FFFFFF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77139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思源黑体 CN Bold"/>
                        </a:rPr>
                        <a:t>解决方案</a:t>
                      </a:r>
                      <a:endParaRPr sz="1300" b="1">
                        <a:solidFill>
                          <a:srgbClr val="FFFFFF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771395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上位机收不到数据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IP/端口不一致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统一设为192.168.137.x，端口6001/6002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图像色彩异常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RGB565未转换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增加uiSensorRGB565转换IP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图像撕裂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DDR读写速率不匹配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采用FDMA-DBUF帧同步+FIFO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位宽不匹配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64bit vs 8bit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AXI-Stream FIFO+Width Converter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2F0F5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RGMII时序违例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PHY延时模式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  <a:latin typeface="思源黑体 CN Bold"/>
                        </a:rPr>
                        <a:t>调整IODELAY约束和ODDR</a:t>
                      </a:r>
                      <a:endParaRPr sz="1300" b="0">
                        <a:solidFill>
                          <a:srgbClr val="333333"/>
                        </a:solidFill>
                        <a:latin typeface="思源黑体 CN Bold"/>
                      </a:endParaRPr>
                    </a:p>
                  </a:txBody>
                  <a:tcPr>
                    <a:lnL w="6350">
                      <a:solidFill>
                        <a:srgbClr val="D0C8DC"/>
                      </a:solidFill>
                    </a:lnL>
                    <a:lnR w="6350">
                      <a:solidFill>
                        <a:srgbClr val="D0C8DC"/>
                      </a:solidFill>
                    </a:lnR>
                    <a:lnT w="6350">
                      <a:solidFill>
                        <a:srgbClr val="D0C8DC"/>
                      </a:solidFill>
                    </a:lnT>
                    <a:lnB w="6350">
                      <a:solidFill>
                        <a:srgbClr val="D0C8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通过系统性调试，逐一解决色彩、缓存、位宽、时序等关键技术问题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15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实践收获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通过本次实训的核心能力提升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00000" y="128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0000" y="131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0000" y="130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掌握了Vivado Block Design图形化开发方法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00000" y="205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000" y="208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0000" y="207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理解了AXI4总线协议及DMA数据传输机制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00000" y="282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000" y="285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0000" y="284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学会了自定义IP核封装（I2C、RGB转换、FDMA）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500000" y="359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000" y="362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00000" y="361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掌握了MIG IP核配置DDR3控制器的方法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00000" y="436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000" y="439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00000" y="438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理解了千兆以太网RGMII接口与时序约束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00000" y="5130000"/>
            <a:ext cx="380000" cy="380000"/>
          </a:xfrm>
          <a:prstGeom prst="ellipse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0000" y="5160000"/>
            <a:ext cx="340000" cy="3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✓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0000" y="5150000"/>
            <a:ext cx="10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A1A2E"/>
                </a:solidFill>
                <a:latin typeface="思源黑体 CN Bold"/>
              </a:rPr>
              <a:t>提升了软硬件协同调试与问题定位能力</a:t>
            </a:r>
            <a:endParaRPr sz="1800">
              <a:solidFill>
                <a:srgbClr val="1A1A2E"/>
              </a:solidFill>
              <a:latin typeface="思源黑体 CN Bold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从实践中学习，从问题中成长——FPGA系统集成能力的全面提升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31913" y="95416"/>
            <a:ext cx="866006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0000" y="130000"/>
            <a:ext cx="81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思源黑体 CN Heavy"/>
              </a:rPr>
              <a:t>16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141207" y="95416"/>
            <a:ext cx="2800000" cy="603242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0000" y="130000"/>
            <a:ext cx="2700000" cy="5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思源黑体 CN Heavy"/>
              </a:rPr>
              <a:t>不足与改进方向</a:t>
            </a:r>
            <a:endParaRPr sz="32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71476" y="714651"/>
            <a:ext cx="11449049" cy="30000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0000" y="760000"/>
            <a:ext cx="11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71395"/>
                </a:solidFill>
                <a:latin typeface="思源黑体 CN Bold"/>
              </a:rPr>
              <a:t>当前不足与未来优化路径</a:t>
            </a:r>
            <a:endParaRPr sz="2000" b="1">
              <a:solidFill>
                <a:srgbClr val="771395"/>
              </a:solidFill>
              <a:latin typeface="思源黑体 CN Bold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6956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6956" y="1200000"/>
            <a:ext cx="5500000" cy="420000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当前不足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6956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帧率仅10~15fps，实时性不够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无图像压缩，带宽利用率低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无丢包重传机制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仅支持单路摄像头</a:t>
            </a:r>
            <a:endParaRPr sz="16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100000" y="1200000"/>
            <a:ext cx="5500000" cy="4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00000" y="1200000"/>
            <a:ext cx="5500000" cy="420000"/>
          </a:xfrm>
          <a:prstGeom prst="roundRect">
            <a:avLst/>
          </a:prstGeom>
          <a:solidFill>
            <a:srgbClr val="007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思源黑体 CN Heavy"/>
              </a:rPr>
              <a:t>未来改进</a:t>
            </a:r>
            <a:endParaRPr sz="2000" b="1">
              <a:solidFill>
                <a:srgbClr val="FFFFFF"/>
              </a:solidFill>
              <a:latin typeface="思源黑体 CN Heav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20000" y="1670000"/>
            <a:ext cx="5260000" cy="3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集成JPEG/H.264压缩，目标30fps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增加TCP可靠传输选项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支持多路摄像头同时采集</a:t>
            </a:r>
            <a:endParaRPr sz="1600" b="0">
              <a:solidFill>
                <a:srgbClr val="333333"/>
              </a:solidFill>
              <a:latin typeface="思源黑体 CN Bold"/>
            </a:endParaRP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思源黑体 CN Bold"/>
              </a:rPr>
              <a:t>• 添加Sobel边缘检测等简单AI功能</a:t>
            </a:r>
            <a:endParaRPr sz="1600" b="0">
              <a:solidFill>
                <a:srgbClr val="333333"/>
              </a:solidFill>
              <a:latin typeface="思源黑体 CN Bold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79813" y="6013209"/>
            <a:ext cx="11440712" cy="477054"/>
          </a:xfrm>
          <a:prstGeom prst="round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思源黑体 CN Bold"/>
              </a:rPr>
              <a:t>当前系统具备良好扩展性，未来可向压缩、多路、智能分析方向演进</a:t>
            </a:r>
            <a:endParaRPr sz="1800" b="1">
              <a:solidFill>
                <a:srgbClr val="FFFFFF"/>
              </a:solidFill>
              <a:latin typeface="思源黑体 CN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12021E"/>
              </a:gs>
              <a:gs pos="100000">
                <a:srgbClr val="3D085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33678" y="580752"/>
            <a:ext cx="5724644" cy="369332"/>
          </a:xfrm>
          <a:prstGeom prst="roundRect">
            <a:avLst/>
          </a:prstGeom>
          <a:solidFill>
            <a:srgbClr val="2A0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E7E6E6"/>
                </a:solidFill>
                <a:latin typeface="思源黑体 CN Bold"/>
              </a:rPr>
              <a:t>西安培华学院 智能科学与工程学院 项目工程实践答辩</a:t>
            </a:r>
            <a:endParaRPr sz="18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65172" y="765418"/>
            <a:ext cx="787211" cy="5000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3967" y="765418"/>
            <a:ext cx="787211" cy="5000"/>
          </a:xfrm>
          <a:prstGeom prst="rect">
            <a:avLst/>
          </a:prstGeom>
          <a:solidFill>
            <a:srgbClr val="D4A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4795" y="1200000"/>
            <a:ext cx="88024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400" b="1">
                <a:solidFill>
                  <a:srgbClr val="FFFFFF"/>
                </a:solidFill>
                <a:latin typeface="思源宋体 CN Heavy"/>
              </a:rPr>
              <a:t>感谢各位老师</a:t>
            </a:r>
            <a:endParaRPr sz="8400" b="1">
              <a:solidFill>
                <a:srgbClr val="FFFFFF"/>
              </a:solidFill>
              <a:latin typeface="思源宋体 CN Heavy"/>
            </a:endParaRPr>
          </a:p>
          <a:p>
            <a:pPr algn="ctr"/>
            <a:r>
              <a:rPr sz="8400" b="1">
                <a:solidFill>
                  <a:srgbClr val="FFFFFF"/>
                </a:solidFill>
                <a:latin typeface="思源宋体 CN Heavy"/>
              </a:rPr>
              <a:t>敬请批评指正！</a:t>
            </a:r>
            <a:endParaRPr sz="8400" b="1">
              <a:solidFill>
                <a:srgbClr val="FFFFFF"/>
              </a:solidFill>
              <a:latin typeface="思源宋体 CN Heavy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08691" y="4387523"/>
            <a:ext cx="3174619" cy="549891"/>
          </a:xfrm>
          <a:prstGeom prst="roundRect">
            <a:avLst/>
          </a:prstGeom>
          <a:solidFill>
            <a:srgbClr val="500A70"/>
          </a:solidFill>
          <a:ln w="25400">
            <a:solidFill>
              <a:srgbClr val="9B3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9B30B5"/>
                </a:solidFill>
                <a:latin typeface="思源黑体 CN Bold"/>
              </a:rPr>
              <a:t>汇报人：XXX    学号：XXX</a:t>
            </a:r>
            <a:endParaRPr sz="2400" b="1">
              <a:solidFill>
                <a:srgbClr val="9B30B5"/>
              </a:solidFill>
              <a:latin typeface="思源黑体 CN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58779" y="5191108"/>
            <a:ext cx="96744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7E6E6"/>
                </a:solidFill>
                <a:latin typeface="思源黑体 CN Bold"/>
              </a:rPr>
              <a:t>专业：电子信息工程2023级    指导教师：阮黎婷</a:t>
            </a:r>
            <a:endParaRPr sz="20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8779" y="5763693"/>
            <a:ext cx="967444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E7E6E6"/>
                </a:solidFill>
                <a:latin typeface="思源黑体 CN Bold"/>
              </a:rPr>
              <a:t>实践时间：2026年5月—6月</a:t>
            </a:r>
            <a:endParaRPr sz="2000" b="1">
              <a:solidFill>
                <a:srgbClr val="E7E6E6"/>
              </a:solidFill>
              <a:latin typeface="思源黑体 CN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6801043"/>
            <a:ext cx="12192000" cy="70403"/>
          </a:xfrm>
          <a:prstGeom prst="rect">
            <a:avLst/>
          </a:prstGeom>
          <a:solidFill>
            <a:srgbClr val="7713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4374</Words>
  <Application>WPS 演示</Application>
  <PresentationFormat>On-screen Show (4:3)</PresentationFormat>
  <Paragraphs>550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宋体</vt:lpstr>
      <vt:lpstr>Wingdings</vt:lpstr>
      <vt:lpstr>Arial</vt:lpstr>
      <vt:lpstr>思源黑体 CN Bold</vt:lpstr>
      <vt:lpstr>黑体</vt:lpstr>
      <vt:lpstr>思源宋体 CN Heavy</vt:lpstr>
      <vt:lpstr>思源黑体 CN Heavy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ʕ̯•͡˔•̯᷅ʔAyy拒绝暧昧</cp:lastModifiedBy>
  <cp:revision>3</cp:revision>
  <dcterms:created xsi:type="dcterms:W3CDTF">2013-01-27T09:14:00Z</dcterms:created>
  <dcterms:modified xsi:type="dcterms:W3CDTF">2026-06-08T14:13:59Z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B048FDC2E7754BBBB90DEDB719A6C382_12</vt:lpwstr>
  </property>
  <property fmtid="{D5CDD505-2E9C-101B-9397-08002B2CF9AE}" pid="3" name="KSOProductBuildVer">
    <vt:lpwstr>2052-12.1.0.23125</vt:lpwstr>
  </property>
</Properties>
</file>