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72" r:id="rId4"/>
    <p:sldId id="281" r:id="rId5"/>
    <p:sldId id="273" r:id="rId6"/>
    <p:sldId id="260" r:id="rId7"/>
    <p:sldId id="274" r:id="rId8"/>
    <p:sldId id="262" r:id="rId9"/>
    <p:sldId id="271" r:id="rId10"/>
    <p:sldId id="276" r:id="rId11"/>
    <p:sldId id="280" r:id="rId12"/>
    <p:sldId id="283" r:id="rId13"/>
    <p:sldId id="286" r:id="rId14"/>
    <p:sldId id="285" r:id="rId15"/>
    <p:sldId id="288" r:id="rId16"/>
    <p:sldId id="287" r:id="rId17"/>
    <p:sldId id="289" r:id="rId18"/>
    <p:sldId id="277" r:id="rId19"/>
    <p:sldId id="279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7"/>
            </p:custDataLst>
          </p:nvPr>
        </p:nvSpPr>
        <p:spPr>
          <a:xfrm>
            <a:off x="1130334" y="5498053"/>
            <a:ext cx="1368028" cy="238423"/>
          </a:xfrm>
          <a:custGeom>
            <a:avLst/>
            <a:gdLst/>
            <a:ahLst/>
            <a:cxnLst/>
            <a:rect l="l" t="t" r="r" b="b"/>
            <a:pathLst>
              <a:path w="1368028" h="238423">
                <a:moveTo>
                  <a:pt x="297954" y="102691"/>
                </a:moveTo>
                <a:cubicBezTo>
                  <a:pt x="285353" y="102691"/>
                  <a:pt x="275555" y="107007"/>
                  <a:pt x="268560" y="115639"/>
                </a:cubicBezTo>
                <a:cubicBezTo>
                  <a:pt x="261565" y="124271"/>
                  <a:pt x="258068" y="136475"/>
                  <a:pt x="258068" y="152251"/>
                </a:cubicBezTo>
                <a:cubicBezTo>
                  <a:pt x="258068" y="185093"/>
                  <a:pt x="271463" y="201513"/>
                  <a:pt x="298252" y="201513"/>
                </a:cubicBezTo>
                <a:cubicBezTo>
                  <a:pt x="323949" y="201513"/>
                  <a:pt x="336798" y="184646"/>
                  <a:pt x="336798" y="150912"/>
                </a:cubicBezTo>
                <a:cubicBezTo>
                  <a:pt x="336798" y="118765"/>
                  <a:pt x="323850" y="102691"/>
                  <a:pt x="297954" y="102691"/>
                </a:cubicBezTo>
                <a:close/>
                <a:moveTo>
                  <a:pt x="814536" y="98673"/>
                </a:moveTo>
                <a:cubicBezTo>
                  <a:pt x="806301" y="98673"/>
                  <a:pt x="799009" y="102046"/>
                  <a:pt x="792659" y="108793"/>
                </a:cubicBezTo>
                <a:cubicBezTo>
                  <a:pt x="786309" y="115540"/>
                  <a:pt x="782340" y="124470"/>
                  <a:pt x="780752" y="135582"/>
                </a:cubicBezTo>
                <a:lnTo>
                  <a:pt x="844451" y="135582"/>
                </a:lnTo>
                <a:cubicBezTo>
                  <a:pt x="844451" y="110976"/>
                  <a:pt x="834479" y="98673"/>
                  <a:pt x="814536" y="98673"/>
                </a:cubicBezTo>
                <a:close/>
                <a:moveTo>
                  <a:pt x="1314748" y="65782"/>
                </a:moveTo>
                <a:cubicBezTo>
                  <a:pt x="1329829" y="65782"/>
                  <a:pt x="1344365" y="68014"/>
                  <a:pt x="1358354" y="72479"/>
                </a:cubicBezTo>
                <a:lnTo>
                  <a:pt x="1358354" y="110282"/>
                </a:lnTo>
                <a:cubicBezTo>
                  <a:pt x="1345555" y="102741"/>
                  <a:pt x="1331466" y="98971"/>
                  <a:pt x="1316087" y="98971"/>
                </a:cubicBezTo>
                <a:cubicBezTo>
                  <a:pt x="1308447" y="98971"/>
                  <a:pt x="1302296" y="100335"/>
                  <a:pt x="1297633" y="103063"/>
                </a:cubicBezTo>
                <a:cubicBezTo>
                  <a:pt x="1292969" y="105792"/>
                  <a:pt x="1290638" y="109389"/>
                  <a:pt x="1290638" y="113853"/>
                </a:cubicBezTo>
                <a:cubicBezTo>
                  <a:pt x="1290638" y="121394"/>
                  <a:pt x="1297583" y="127496"/>
                  <a:pt x="1311474" y="132159"/>
                </a:cubicBezTo>
                <a:cubicBezTo>
                  <a:pt x="1326356" y="137120"/>
                  <a:pt x="1337543" y="141635"/>
                  <a:pt x="1345034" y="145703"/>
                </a:cubicBezTo>
                <a:cubicBezTo>
                  <a:pt x="1352525" y="149771"/>
                  <a:pt x="1358230" y="155128"/>
                  <a:pt x="1362150" y="161776"/>
                </a:cubicBezTo>
                <a:cubicBezTo>
                  <a:pt x="1366069" y="168424"/>
                  <a:pt x="1368028" y="176113"/>
                  <a:pt x="1368028" y="184844"/>
                </a:cubicBezTo>
                <a:cubicBezTo>
                  <a:pt x="1368028" y="201811"/>
                  <a:pt x="1361232" y="214982"/>
                  <a:pt x="1347639" y="224358"/>
                </a:cubicBezTo>
                <a:cubicBezTo>
                  <a:pt x="1334046" y="233735"/>
                  <a:pt x="1315889" y="238423"/>
                  <a:pt x="1293168" y="238423"/>
                </a:cubicBezTo>
                <a:cubicBezTo>
                  <a:pt x="1275308" y="238423"/>
                  <a:pt x="1258788" y="235595"/>
                  <a:pt x="1243608" y="229939"/>
                </a:cubicBezTo>
                <a:lnTo>
                  <a:pt x="1243608" y="190202"/>
                </a:lnTo>
                <a:cubicBezTo>
                  <a:pt x="1260078" y="200223"/>
                  <a:pt x="1276201" y="205234"/>
                  <a:pt x="1291977" y="205234"/>
                </a:cubicBezTo>
                <a:cubicBezTo>
                  <a:pt x="1311821" y="205234"/>
                  <a:pt x="1321743" y="199926"/>
                  <a:pt x="1321743" y="189309"/>
                </a:cubicBezTo>
                <a:cubicBezTo>
                  <a:pt x="1321743" y="181769"/>
                  <a:pt x="1313557" y="175468"/>
                  <a:pt x="1297186" y="170408"/>
                </a:cubicBezTo>
                <a:cubicBezTo>
                  <a:pt x="1276747" y="164058"/>
                  <a:pt x="1262707" y="156989"/>
                  <a:pt x="1255068" y="149200"/>
                </a:cubicBezTo>
                <a:cubicBezTo>
                  <a:pt x="1247428" y="141411"/>
                  <a:pt x="1243608" y="130869"/>
                  <a:pt x="1243608" y="117574"/>
                </a:cubicBezTo>
                <a:cubicBezTo>
                  <a:pt x="1243608" y="101401"/>
                  <a:pt x="1250156" y="88726"/>
                  <a:pt x="1263253" y="79549"/>
                </a:cubicBezTo>
                <a:cubicBezTo>
                  <a:pt x="1276350" y="70371"/>
                  <a:pt x="1293515" y="65782"/>
                  <a:pt x="1314748" y="65782"/>
                </a:cubicBezTo>
                <a:close/>
                <a:moveTo>
                  <a:pt x="1025724" y="65782"/>
                </a:moveTo>
                <a:cubicBezTo>
                  <a:pt x="1062236" y="65782"/>
                  <a:pt x="1080492" y="88404"/>
                  <a:pt x="1080492" y="133648"/>
                </a:cubicBezTo>
                <a:lnTo>
                  <a:pt x="1080492" y="234404"/>
                </a:lnTo>
                <a:lnTo>
                  <a:pt x="1032718" y="234404"/>
                </a:lnTo>
                <a:lnTo>
                  <a:pt x="1032718" y="142577"/>
                </a:lnTo>
                <a:cubicBezTo>
                  <a:pt x="1032718" y="115987"/>
                  <a:pt x="1023144" y="102691"/>
                  <a:pt x="1003995" y="102691"/>
                </a:cubicBezTo>
                <a:cubicBezTo>
                  <a:pt x="994866" y="102691"/>
                  <a:pt x="987276" y="106238"/>
                  <a:pt x="981224" y="113333"/>
                </a:cubicBezTo>
                <a:cubicBezTo>
                  <a:pt x="975172" y="120427"/>
                  <a:pt x="972145" y="129480"/>
                  <a:pt x="972145" y="140494"/>
                </a:cubicBezTo>
                <a:lnTo>
                  <a:pt x="972145" y="234404"/>
                </a:lnTo>
                <a:lnTo>
                  <a:pt x="924074" y="234404"/>
                </a:lnTo>
                <a:lnTo>
                  <a:pt x="924074" y="69800"/>
                </a:lnTo>
                <a:lnTo>
                  <a:pt x="972145" y="69800"/>
                </a:lnTo>
                <a:lnTo>
                  <a:pt x="972145" y="95994"/>
                </a:lnTo>
                <a:lnTo>
                  <a:pt x="972741" y="95994"/>
                </a:lnTo>
                <a:cubicBezTo>
                  <a:pt x="984746" y="75853"/>
                  <a:pt x="1002407" y="65782"/>
                  <a:pt x="1025724" y="65782"/>
                </a:cubicBezTo>
                <a:close/>
                <a:moveTo>
                  <a:pt x="814834" y="65782"/>
                </a:moveTo>
                <a:cubicBezTo>
                  <a:pt x="838150" y="65782"/>
                  <a:pt x="856382" y="72851"/>
                  <a:pt x="869528" y="86990"/>
                </a:cubicBezTo>
                <a:cubicBezTo>
                  <a:pt x="882675" y="101129"/>
                  <a:pt x="889248" y="120551"/>
                  <a:pt x="889248" y="145256"/>
                </a:cubicBezTo>
                <a:lnTo>
                  <a:pt x="889248" y="165646"/>
                </a:lnTo>
                <a:lnTo>
                  <a:pt x="780901" y="165646"/>
                </a:lnTo>
                <a:cubicBezTo>
                  <a:pt x="782588" y="191145"/>
                  <a:pt x="797967" y="203894"/>
                  <a:pt x="827038" y="203894"/>
                </a:cubicBezTo>
                <a:cubicBezTo>
                  <a:pt x="845195" y="203894"/>
                  <a:pt x="861219" y="199430"/>
                  <a:pt x="875109" y="190500"/>
                </a:cubicBezTo>
                <a:lnTo>
                  <a:pt x="875109" y="225772"/>
                </a:lnTo>
                <a:cubicBezTo>
                  <a:pt x="860127" y="234206"/>
                  <a:pt x="840482" y="238423"/>
                  <a:pt x="816173" y="238423"/>
                </a:cubicBezTo>
                <a:cubicBezTo>
                  <a:pt x="789980" y="238423"/>
                  <a:pt x="769615" y="231031"/>
                  <a:pt x="755079" y="216247"/>
                </a:cubicBezTo>
                <a:cubicBezTo>
                  <a:pt x="740544" y="201464"/>
                  <a:pt x="733276" y="180876"/>
                  <a:pt x="733276" y="154484"/>
                </a:cubicBezTo>
                <a:cubicBezTo>
                  <a:pt x="733276" y="128191"/>
                  <a:pt x="741015" y="106834"/>
                  <a:pt x="756493" y="90413"/>
                </a:cubicBezTo>
                <a:cubicBezTo>
                  <a:pt x="771971" y="73992"/>
                  <a:pt x="791418" y="65782"/>
                  <a:pt x="814834" y="65782"/>
                </a:cubicBezTo>
                <a:close/>
                <a:moveTo>
                  <a:pt x="520898" y="65782"/>
                </a:moveTo>
                <a:cubicBezTo>
                  <a:pt x="557411" y="65782"/>
                  <a:pt x="575667" y="88404"/>
                  <a:pt x="575667" y="133648"/>
                </a:cubicBezTo>
                <a:lnTo>
                  <a:pt x="575667" y="234404"/>
                </a:lnTo>
                <a:lnTo>
                  <a:pt x="527893" y="234404"/>
                </a:lnTo>
                <a:lnTo>
                  <a:pt x="527893" y="142577"/>
                </a:lnTo>
                <a:cubicBezTo>
                  <a:pt x="527893" y="115987"/>
                  <a:pt x="518319" y="102691"/>
                  <a:pt x="499170" y="102691"/>
                </a:cubicBezTo>
                <a:cubicBezTo>
                  <a:pt x="490041" y="102691"/>
                  <a:pt x="482451" y="106238"/>
                  <a:pt x="476399" y="113333"/>
                </a:cubicBezTo>
                <a:cubicBezTo>
                  <a:pt x="470346" y="120427"/>
                  <a:pt x="467320" y="129480"/>
                  <a:pt x="467320" y="140494"/>
                </a:cubicBezTo>
                <a:lnTo>
                  <a:pt x="467320" y="234404"/>
                </a:lnTo>
                <a:lnTo>
                  <a:pt x="419249" y="234404"/>
                </a:lnTo>
                <a:lnTo>
                  <a:pt x="419249" y="69800"/>
                </a:lnTo>
                <a:lnTo>
                  <a:pt x="467320" y="69800"/>
                </a:lnTo>
                <a:lnTo>
                  <a:pt x="467320" y="95994"/>
                </a:lnTo>
                <a:lnTo>
                  <a:pt x="467916" y="95994"/>
                </a:lnTo>
                <a:cubicBezTo>
                  <a:pt x="479921" y="75853"/>
                  <a:pt x="497582" y="65782"/>
                  <a:pt x="520898" y="65782"/>
                </a:cubicBezTo>
                <a:close/>
                <a:moveTo>
                  <a:pt x="299145" y="65782"/>
                </a:moveTo>
                <a:cubicBezTo>
                  <a:pt x="325636" y="65782"/>
                  <a:pt x="346670" y="73397"/>
                  <a:pt x="362248" y="88627"/>
                </a:cubicBezTo>
                <a:cubicBezTo>
                  <a:pt x="377825" y="103857"/>
                  <a:pt x="385614" y="124321"/>
                  <a:pt x="385614" y="150019"/>
                </a:cubicBezTo>
                <a:cubicBezTo>
                  <a:pt x="385614" y="177006"/>
                  <a:pt x="377627" y="198487"/>
                  <a:pt x="361652" y="214461"/>
                </a:cubicBezTo>
                <a:cubicBezTo>
                  <a:pt x="345678" y="230435"/>
                  <a:pt x="324048" y="238423"/>
                  <a:pt x="296763" y="238423"/>
                </a:cubicBezTo>
                <a:cubicBezTo>
                  <a:pt x="269974" y="238423"/>
                  <a:pt x="248717" y="230758"/>
                  <a:pt x="232990" y="215429"/>
                </a:cubicBezTo>
                <a:cubicBezTo>
                  <a:pt x="217264" y="200099"/>
                  <a:pt x="209401" y="179239"/>
                  <a:pt x="209401" y="152846"/>
                </a:cubicBezTo>
                <a:cubicBezTo>
                  <a:pt x="209401" y="125760"/>
                  <a:pt x="217512" y="104477"/>
                  <a:pt x="233735" y="88999"/>
                </a:cubicBezTo>
                <a:cubicBezTo>
                  <a:pt x="249957" y="73521"/>
                  <a:pt x="271760" y="65782"/>
                  <a:pt x="299145" y="65782"/>
                </a:cubicBezTo>
                <a:close/>
                <a:moveTo>
                  <a:pt x="1183481" y="19943"/>
                </a:moveTo>
                <a:lnTo>
                  <a:pt x="1183481" y="69800"/>
                </a:lnTo>
                <a:lnTo>
                  <a:pt x="1220986" y="69800"/>
                </a:lnTo>
                <a:lnTo>
                  <a:pt x="1220986" y="105668"/>
                </a:lnTo>
                <a:lnTo>
                  <a:pt x="1183481" y="105668"/>
                </a:lnTo>
                <a:lnTo>
                  <a:pt x="1183481" y="175022"/>
                </a:lnTo>
                <a:cubicBezTo>
                  <a:pt x="1183481" y="192584"/>
                  <a:pt x="1190427" y="201364"/>
                  <a:pt x="1204317" y="201364"/>
                </a:cubicBezTo>
                <a:cubicBezTo>
                  <a:pt x="1209675" y="201364"/>
                  <a:pt x="1215231" y="199777"/>
                  <a:pt x="1220986" y="196602"/>
                </a:cubicBezTo>
                <a:lnTo>
                  <a:pt x="1220986" y="232469"/>
                </a:lnTo>
                <a:cubicBezTo>
                  <a:pt x="1213743" y="236438"/>
                  <a:pt x="1202779" y="238423"/>
                  <a:pt x="1188095" y="238423"/>
                </a:cubicBezTo>
                <a:cubicBezTo>
                  <a:pt x="1153170" y="238423"/>
                  <a:pt x="1135708" y="220067"/>
                  <a:pt x="1135708" y="183356"/>
                </a:cubicBezTo>
                <a:lnTo>
                  <a:pt x="1135708" y="105668"/>
                </a:lnTo>
                <a:lnTo>
                  <a:pt x="1108621" y="105668"/>
                </a:lnTo>
                <a:lnTo>
                  <a:pt x="1108621" y="69800"/>
                </a:lnTo>
                <a:lnTo>
                  <a:pt x="1135708" y="69800"/>
                </a:lnTo>
                <a:lnTo>
                  <a:pt x="1135708" y="33635"/>
                </a:lnTo>
                <a:close/>
                <a:moveTo>
                  <a:pt x="678656" y="19943"/>
                </a:moveTo>
                <a:lnTo>
                  <a:pt x="678656" y="69800"/>
                </a:lnTo>
                <a:lnTo>
                  <a:pt x="716161" y="69800"/>
                </a:lnTo>
                <a:lnTo>
                  <a:pt x="716161" y="105668"/>
                </a:lnTo>
                <a:lnTo>
                  <a:pt x="678656" y="105668"/>
                </a:lnTo>
                <a:lnTo>
                  <a:pt x="678656" y="175022"/>
                </a:lnTo>
                <a:cubicBezTo>
                  <a:pt x="678656" y="192584"/>
                  <a:pt x="685602" y="201364"/>
                  <a:pt x="699492" y="201364"/>
                </a:cubicBezTo>
                <a:cubicBezTo>
                  <a:pt x="704850" y="201364"/>
                  <a:pt x="710406" y="199777"/>
                  <a:pt x="716161" y="196602"/>
                </a:cubicBezTo>
                <a:lnTo>
                  <a:pt x="716161" y="232469"/>
                </a:lnTo>
                <a:cubicBezTo>
                  <a:pt x="708918" y="236438"/>
                  <a:pt x="697954" y="238423"/>
                  <a:pt x="683270" y="238423"/>
                </a:cubicBezTo>
                <a:cubicBezTo>
                  <a:pt x="648345" y="238423"/>
                  <a:pt x="630882" y="220067"/>
                  <a:pt x="630882" y="183356"/>
                </a:cubicBezTo>
                <a:lnTo>
                  <a:pt x="630882" y="105668"/>
                </a:lnTo>
                <a:lnTo>
                  <a:pt x="603796" y="105668"/>
                </a:lnTo>
                <a:lnTo>
                  <a:pt x="603796" y="69800"/>
                </a:lnTo>
                <a:lnTo>
                  <a:pt x="630882" y="69800"/>
                </a:lnTo>
                <a:lnTo>
                  <a:pt x="630882" y="33635"/>
                </a:lnTo>
                <a:close/>
                <a:moveTo>
                  <a:pt x="122337" y="0"/>
                </a:moveTo>
                <a:cubicBezTo>
                  <a:pt x="144859" y="0"/>
                  <a:pt x="163711" y="2927"/>
                  <a:pt x="178891" y="8781"/>
                </a:cubicBezTo>
                <a:lnTo>
                  <a:pt x="178891" y="56257"/>
                </a:lnTo>
                <a:cubicBezTo>
                  <a:pt x="163314" y="47129"/>
                  <a:pt x="145653" y="42565"/>
                  <a:pt x="125909" y="42565"/>
                </a:cubicBezTo>
                <a:cubicBezTo>
                  <a:pt x="103386" y="42565"/>
                  <a:pt x="85378" y="49758"/>
                  <a:pt x="71884" y="64145"/>
                </a:cubicBezTo>
                <a:cubicBezTo>
                  <a:pt x="58390" y="78532"/>
                  <a:pt x="51643" y="97334"/>
                  <a:pt x="51643" y="120551"/>
                </a:cubicBezTo>
                <a:cubicBezTo>
                  <a:pt x="51643" y="143173"/>
                  <a:pt x="58043" y="161379"/>
                  <a:pt x="70842" y="175171"/>
                </a:cubicBezTo>
                <a:cubicBezTo>
                  <a:pt x="83641" y="188962"/>
                  <a:pt x="100955" y="195858"/>
                  <a:pt x="122783" y="195858"/>
                </a:cubicBezTo>
                <a:cubicBezTo>
                  <a:pt x="143321" y="195858"/>
                  <a:pt x="162024" y="190897"/>
                  <a:pt x="178891" y="180975"/>
                </a:cubicBezTo>
                <a:lnTo>
                  <a:pt x="178891" y="226070"/>
                </a:lnTo>
                <a:cubicBezTo>
                  <a:pt x="162123" y="234305"/>
                  <a:pt x="140246" y="238423"/>
                  <a:pt x="113258" y="238423"/>
                </a:cubicBezTo>
                <a:cubicBezTo>
                  <a:pt x="78532" y="238423"/>
                  <a:pt x="50974" y="228029"/>
                  <a:pt x="30584" y="207243"/>
                </a:cubicBezTo>
                <a:cubicBezTo>
                  <a:pt x="10195" y="186457"/>
                  <a:pt x="0" y="158750"/>
                  <a:pt x="0" y="124123"/>
                </a:cubicBezTo>
                <a:cubicBezTo>
                  <a:pt x="0" y="87709"/>
                  <a:pt x="11385" y="57919"/>
                  <a:pt x="34156" y="34751"/>
                </a:cubicBezTo>
                <a:cubicBezTo>
                  <a:pt x="56927" y="11584"/>
                  <a:pt x="86320" y="0"/>
                  <a:pt x="1223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  <a:sym typeface="+mn-ea"/>
              </a:defRPr>
            </a:lvl1pPr>
            <a:lvl2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2pPr>
            <a:lvl3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3pPr>
            <a:lvl4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4pPr>
            <a:lvl5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60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2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image" Target="../media/image5.png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1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image" Target="../media/image7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4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12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3.xml"/><Relationship Id="rId3" Type="http://schemas.openxmlformats.org/officeDocument/2006/relationships/image" Target="../media/image13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6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2.xml"/><Relationship Id="rId3" Type="http://schemas.openxmlformats.org/officeDocument/2006/relationships/image" Target="../media/image16.pn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74165" y="3825618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Verilog</a:t>
            </a:r>
            <a:r>
              <a:rPr lang="zh-CN" altLang="en-US" dirty="0"/>
              <a:t>程序设计实例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zh-CN" altLang="en-US" dirty="0"/>
              <a:t>呼吸</a:t>
            </a:r>
            <a:r>
              <a:rPr lang="zh-CN" altLang="en-US" dirty="0"/>
              <a:t>灯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概述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36395" y="1797050"/>
            <a:ext cx="8587740" cy="3695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5" name="文本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16713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rtl="0"/>
            <a:r>
              <a:rPr lang="zh-CN" altLang="en-US" b="1" kern="1400" dirty="0"/>
              <a:t>占空比</a:t>
            </a:r>
            <a:r>
              <a:rPr lang="en-US" altLang="zh-CN" b="1" kern="1400" dirty="0"/>
              <a:t>=</a:t>
            </a:r>
            <a:r>
              <a:rPr lang="zh-CN" altLang="en-US" b="1" kern="1400" dirty="0"/>
              <a:t>（高电</a:t>
            </a:r>
            <a:r>
              <a:rPr lang="zh-CN" altLang="en-US" b="1" kern="1400" dirty="0"/>
              <a:t>平时间</a:t>
            </a:r>
            <a:r>
              <a:rPr lang="en-US" altLang="zh-CN" b="1" kern="1400" dirty="0"/>
              <a:t>/</a:t>
            </a:r>
            <a:r>
              <a:rPr lang="zh-CN" altLang="en-US" b="1" kern="1400" dirty="0"/>
              <a:t>信号周期）</a:t>
            </a:r>
            <a:r>
              <a:rPr lang="en-US" altLang="zh-CN" b="1" kern="1400" dirty="0"/>
              <a:t>*  100%</a:t>
            </a:r>
            <a:endParaRPr lang="en-US" altLang="zh-CN" b="1" kern="14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1707146" y="1732604"/>
            <a:ext cx="5281397" cy="2355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对象 6"/>
          <p:cNvGraphicFramePr/>
          <p:nvPr/>
        </p:nvGraphicFramePr>
        <p:xfrm>
          <a:off x="7479665" y="1732915"/>
          <a:ext cx="4016375" cy="2703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3512820" imgH="1828800" progId="Paint.Picture">
                  <p:embed/>
                </p:oleObj>
              </mc:Choice>
              <mc:Fallback>
                <p:oleObj name="" r:id="rId5" imgW="3512820" imgH="182880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79665" y="1732915"/>
                        <a:ext cx="4016375" cy="27038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1706880" y="4537075"/>
          <a:ext cx="7840345" cy="202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7" imgW="6652260" imgH="1341120" progId="Paint.Picture">
                  <p:embed/>
                </p:oleObj>
              </mc:Choice>
              <mc:Fallback>
                <p:oleObj name="" r:id="rId7" imgW="6652260" imgH="1341120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06880" y="4537075"/>
                        <a:ext cx="7840345" cy="2020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FPGA</a:t>
            </a:r>
            <a:r>
              <a:rPr lang="zh-CN" altLang="en-US"/>
              <a:t>呼吸灯是一种常见的教学项目，它让</a:t>
            </a:r>
            <a:r>
              <a:rPr lang="en-US" altLang="zh-CN"/>
              <a:t>LED</a:t>
            </a:r>
            <a:r>
              <a:rPr lang="zh-CN" altLang="en-US"/>
              <a:t>灯的亮度从暗到亮、再从亮到暗循环变化，像呼吸一样。基本原理是</a:t>
            </a:r>
            <a:r>
              <a:rPr lang="en-US" altLang="zh-CN"/>
              <a:t>PWM</a:t>
            </a:r>
            <a:r>
              <a:rPr lang="zh-CN" altLang="en-US"/>
              <a:t>（脉冲宽度调制）。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PWM</a:t>
            </a:r>
            <a:r>
              <a:rPr lang="zh-CN" altLang="en-US"/>
              <a:t>调光：</a:t>
            </a:r>
            <a:endParaRPr lang="en-US" altLang="zh-CN"/>
          </a:p>
          <a:p>
            <a:r>
              <a:rPr lang="zh-CN" altLang="en-US"/>
              <a:t>快速开关</a:t>
            </a:r>
            <a:r>
              <a:rPr lang="en-US" altLang="zh-CN"/>
              <a:t>LED</a:t>
            </a:r>
            <a:r>
              <a:rPr lang="zh-CN" altLang="en-US"/>
              <a:t>：以固定频率（如</a:t>
            </a:r>
            <a:r>
              <a:rPr lang="en-US" altLang="zh-CN"/>
              <a:t>1kHz</a:t>
            </a:r>
            <a:r>
              <a:rPr lang="zh-CN" altLang="en-US"/>
              <a:t>）快速开关</a:t>
            </a:r>
            <a:r>
              <a:rPr lang="en-US" altLang="zh-CN"/>
              <a:t>LED</a:t>
            </a:r>
            <a:endParaRPr lang="en-US" altLang="zh-CN"/>
          </a:p>
          <a:p>
            <a:r>
              <a:rPr lang="zh-CN" altLang="en-US"/>
              <a:t>改变占空比：调整每个周期内</a:t>
            </a:r>
            <a:r>
              <a:rPr lang="en-US" altLang="zh-CN"/>
              <a:t>"</a:t>
            </a:r>
            <a:r>
              <a:rPr lang="zh-CN" altLang="en-US"/>
              <a:t>亮</a:t>
            </a:r>
            <a:r>
              <a:rPr lang="en-US" altLang="zh-CN"/>
              <a:t>"</a:t>
            </a:r>
            <a:r>
              <a:rPr lang="zh-CN" altLang="en-US"/>
              <a:t>的时间比例</a:t>
            </a:r>
            <a:endParaRPr lang="en-US" altLang="zh-CN"/>
          </a:p>
          <a:p>
            <a:pPr lvl="1" algn="l"/>
            <a:r>
              <a:rPr lang="zh-CN" altLang="en-US">
                <a:solidFill>
                  <a:schemeClr val="tx1"/>
                </a:solidFill>
              </a:rPr>
              <a:t>占空比</a:t>
            </a:r>
            <a:r>
              <a:rPr lang="en-US" altLang="zh-CN">
                <a:solidFill>
                  <a:schemeClr val="tx1"/>
                </a:solidFill>
              </a:rPr>
              <a:t>0% = </a:t>
            </a:r>
            <a:r>
              <a:rPr lang="zh-CN" altLang="en-US">
                <a:solidFill>
                  <a:schemeClr val="tx1"/>
                </a:solidFill>
              </a:rPr>
              <a:t>常亮</a:t>
            </a:r>
            <a:endParaRPr lang="en-US" altLang="zh-CN">
              <a:solidFill>
                <a:schemeClr val="tx1"/>
              </a:solidFill>
            </a:endParaRPr>
          </a:p>
          <a:p>
            <a:pPr lvl="1" algn="l"/>
            <a:r>
              <a:rPr lang="zh-CN" altLang="en-US">
                <a:solidFill>
                  <a:schemeClr val="tx1"/>
                </a:solidFill>
              </a:rPr>
              <a:t>占空比</a:t>
            </a:r>
            <a:r>
              <a:rPr lang="en-US" altLang="zh-CN">
                <a:solidFill>
                  <a:schemeClr val="tx1"/>
                </a:solidFill>
              </a:rPr>
              <a:t>100% = </a:t>
            </a:r>
            <a:r>
              <a:rPr lang="zh-CN" altLang="en-US">
                <a:solidFill>
                  <a:schemeClr val="tx1"/>
                </a:solidFill>
              </a:rPr>
              <a:t>常灭</a:t>
            </a:r>
            <a:endParaRPr lang="en-US" altLang="zh-CN">
              <a:solidFill>
                <a:schemeClr val="tx1"/>
              </a:solidFill>
            </a:endParaRPr>
          </a:p>
          <a:p>
            <a:pPr lvl="1" algn="l"/>
            <a:r>
              <a:rPr lang="zh-CN" altLang="en-US">
                <a:solidFill>
                  <a:schemeClr val="tx1"/>
                </a:solidFill>
              </a:rPr>
              <a:t>占空比</a:t>
            </a:r>
            <a:r>
              <a:rPr lang="en-US" altLang="zh-CN">
                <a:solidFill>
                  <a:schemeClr val="tx1"/>
                </a:solidFill>
              </a:rPr>
              <a:t>50% = </a:t>
            </a:r>
            <a:r>
              <a:rPr lang="zh-CN" altLang="en-US">
                <a:solidFill>
                  <a:schemeClr val="tx1"/>
                </a:solidFill>
              </a:rPr>
              <a:t>半亮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/>
              <a:t>视觉暂留：由于开关速度很快（</a:t>
            </a:r>
            <a:r>
              <a:rPr lang="en-US" altLang="zh-CN"/>
              <a:t>&gt;100Hz</a:t>
            </a:r>
            <a:r>
              <a:rPr lang="zh-CN" altLang="en-US"/>
              <a:t>），人眼看到的是平均亮度，而不是闪烁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题目</a:t>
            </a:r>
            <a:r>
              <a:rPr lang="zh-CN" altLang="en-US"/>
              <a:t>要求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zh-CN" altLang="en-US"/>
              <a:t>输入时钟</a:t>
            </a:r>
            <a:r>
              <a:rPr lang="en-US" altLang="zh-CN"/>
              <a:t>25mhz</a:t>
            </a:r>
            <a:r>
              <a:rPr lang="zh-CN" altLang="en-US"/>
              <a:t>，带有复位信号</a:t>
            </a:r>
            <a:r>
              <a:rPr lang="en-US" altLang="zh-CN"/>
              <a:t>  </a:t>
            </a:r>
            <a:endParaRPr lang="en-US" altLang="zh-CN"/>
          </a:p>
          <a:p>
            <a:r>
              <a:rPr lang="zh-CN" altLang="en-US"/>
              <a:t>基于</a:t>
            </a:r>
            <a:r>
              <a:rPr lang="en-US" altLang="zh-CN"/>
              <a:t>XC7A100TFGG484-2 FPGA</a:t>
            </a:r>
            <a:r>
              <a:rPr lang="zh-CN" altLang="en-US"/>
              <a:t>芯片实现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LED</a:t>
            </a:r>
            <a:r>
              <a:rPr lang="zh-CN" altLang="en-US"/>
              <a:t>呼吸灯效果：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LED</a:t>
            </a:r>
            <a:r>
              <a:rPr lang="zh-CN" altLang="en-US"/>
              <a:t>亮度渐变工作周期为</a:t>
            </a:r>
            <a:r>
              <a:rPr lang="en-US" altLang="zh-CN"/>
              <a:t>4s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形成连贯的呼吸视觉效果。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前</a:t>
            </a:r>
            <a:r>
              <a:rPr lang="en-US" altLang="zh-CN"/>
              <a:t>2s</a:t>
            </a:r>
            <a:r>
              <a:rPr lang="zh-CN" altLang="en-US"/>
              <a:t>为亮度递增阶段，</a:t>
            </a:r>
            <a:r>
              <a:rPr lang="en-US" altLang="zh-CN"/>
              <a:t>PWM</a:t>
            </a:r>
            <a:r>
              <a:rPr lang="zh-CN" altLang="en-US">
                <a:sym typeface="+mn-ea"/>
              </a:rPr>
              <a:t>占空比从</a:t>
            </a:r>
            <a:r>
              <a:rPr lang="en-US" altLang="zh-CN">
                <a:sym typeface="+mn-ea"/>
              </a:rPr>
              <a:t>100%</a:t>
            </a:r>
            <a:r>
              <a:rPr lang="zh-CN" altLang="en-US">
                <a:sym typeface="+mn-ea"/>
              </a:rPr>
              <a:t>线性衰减至</a:t>
            </a:r>
            <a:r>
              <a:rPr lang="en-US" altLang="zh-CN">
                <a:sym typeface="+mn-ea"/>
              </a:rPr>
              <a:t>0%</a:t>
            </a:r>
            <a:r>
              <a:rPr lang="zh-CN" altLang="en-US"/>
              <a:t>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后</a:t>
            </a:r>
            <a:r>
              <a:rPr lang="en-US" altLang="zh-CN"/>
              <a:t>2s</a:t>
            </a:r>
            <a:r>
              <a:rPr lang="zh-CN" altLang="en-US"/>
              <a:t>为亮度递减阶段，</a:t>
            </a:r>
            <a:r>
              <a:rPr lang="zh-CN" altLang="en-US">
                <a:sym typeface="+mn-ea"/>
              </a:rPr>
              <a:t>占空比从</a:t>
            </a:r>
            <a:r>
              <a:rPr lang="en-US" altLang="zh-CN">
                <a:sym typeface="+mn-ea"/>
              </a:rPr>
              <a:t>0%</a:t>
            </a:r>
            <a:r>
              <a:rPr lang="zh-CN" altLang="en-US">
                <a:sym typeface="+mn-ea"/>
              </a:rPr>
              <a:t>线性增长至</a:t>
            </a:r>
            <a:r>
              <a:rPr lang="en-US" altLang="zh-CN">
                <a:sym typeface="+mn-ea"/>
              </a:rPr>
              <a:t>100%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buNone/>
            </a:pPr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步骤</a:t>
            </a:r>
            <a:endParaRPr lang="zh-CN" altLang="en-US"/>
          </a:p>
        </p:txBody>
      </p:sp>
      <p:pic>
        <p:nvPicPr>
          <p:cNvPr id="15362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19375" y="856615"/>
            <a:ext cx="2446655" cy="552259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标注 3"/>
          <p:cNvSpPr/>
          <p:nvPr/>
        </p:nvSpPr>
        <p:spPr>
          <a:xfrm>
            <a:off x="6553835" y="2484755"/>
            <a:ext cx="3672840" cy="432435"/>
          </a:xfrm>
          <a:prstGeom prst="wedgeRectCallout">
            <a:avLst>
              <a:gd name="adj1" fmla="val -101897"/>
              <a:gd name="adj2" fmla="val 3164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完成设计文件和约束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5" name="矩形标注 4"/>
          <p:cNvSpPr/>
          <p:nvPr/>
        </p:nvSpPr>
        <p:spPr>
          <a:xfrm>
            <a:off x="6553835" y="3051175"/>
            <a:ext cx="3672840" cy="791845"/>
          </a:xfrm>
          <a:prstGeom prst="wedgeRectCallout">
            <a:avLst>
              <a:gd name="adj1" fmla="val -90733"/>
              <a:gd name="adj2" fmla="val 1078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搭建测试平台完成激励仿真文件，</a:t>
            </a:r>
            <a:endParaRPr lang="zh-CN" altLang="en-US"/>
          </a:p>
          <a:p>
            <a:pPr algn="ctr"/>
            <a:r>
              <a:rPr lang="zh-CN" altLang="en-US"/>
              <a:t>并进行仿真</a:t>
            </a:r>
            <a:r>
              <a:rPr lang="zh-CN" altLang="en-US"/>
              <a:t>验证</a:t>
            </a:r>
            <a:endParaRPr lang="zh-CN" altLang="en-US"/>
          </a:p>
        </p:txBody>
      </p:sp>
      <p:sp>
        <p:nvSpPr>
          <p:cNvPr id="6" name="矩形标注 5"/>
          <p:cNvSpPr/>
          <p:nvPr/>
        </p:nvSpPr>
        <p:spPr>
          <a:xfrm>
            <a:off x="6485890" y="5780405"/>
            <a:ext cx="3045460" cy="432435"/>
          </a:xfrm>
          <a:prstGeom prst="wedgeRectCallout">
            <a:avLst>
              <a:gd name="adj1" fmla="val -101897"/>
              <a:gd name="adj2" fmla="val 3164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完成实验</a:t>
            </a:r>
            <a:r>
              <a:rPr lang="zh-CN" altLang="en-US"/>
              <a:t>报告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需求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理解问题：我们要做什么？</a:t>
            </a:r>
            <a:endParaRPr lang="zh-CN" altLang="en-US"/>
          </a:p>
          <a:p>
            <a:pPr marL="457200" indent="-457200">
              <a:buFont typeface="+mj-lt"/>
              <a:buAutoNum type="arabicPeriod"/>
            </a:pPr>
            <a:r>
              <a:rPr lang="zh-CN" altLang="en-US">
                <a:sym typeface="+mn-ea"/>
              </a:rPr>
              <a:t>输入时钟</a:t>
            </a:r>
            <a:r>
              <a:rPr lang="en-US" altLang="zh-CN">
                <a:sym typeface="+mn-ea"/>
              </a:rPr>
              <a:t>25MHz</a:t>
            </a:r>
            <a:endParaRPr lang="zh-CN" altLang="en-US">
              <a:sym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>
                <a:sym typeface="+mn-ea"/>
              </a:rPr>
              <a:t>带有复位信号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3.   </a:t>
            </a:r>
            <a:r>
              <a:rPr lang="zh-CN" altLang="en-US">
                <a:sym typeface="+mn-ea"/>
              </a:rPr>
              <a:t>实现呼吸灯</a:t>
            </a:r>
            <a:r>
              <a:rPr lang="zh-CN" altLang="en-US">
                <a:sym typeface="+mn-ea"/>
              </a:rPr>
              <a:t>效果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endParaRPr lang="zh-CN" altLang="en-US">
              <a:sym typeface="+mn-ea"/>
            </a:endParaRPr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接口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输入信号：时钟、复位</a:t>
            </a:r>
            <a:endParaRPr lang="en-US" altLang="zh-CN"/>
          </a:p>
          <a:p>
            <a:r>
              <a:rPr lang="zh-CN" altLang="en-US">
                <a:sym typeface="+mn-ea"/>
              </a:rPr>
              <a:t>输出信号：</a:t>
            </a:r>
            <a:r>
              <a:rPr lang="en-US" altLang="zh-CN">
                <a:sym typeface="+mn-ea"/>
              </a:rPr>
              <a:t>LED</a:t>
            </a:r>
            <a:r>
              <a:rPr lang="zh-CN" altLang="en-US">
                <a:sym typeface="+mn-ea"/>
              </a:rPr>
              <a:t>灯状态</a:t>
            </a:r>
            <a:endParaRPr lang="en-US" altLang="zh-CN"/>
          </a:p>
          <a:p>
            <a:endParaRPr lang="zh-CN" altLang="en-US"/>
          </a:p>
        </p:txBody>
      </p:sp>
      <p:graphicFrame>
        <p:nvGraphicFramePr>
          <p:cNvPr id="5" name="对象 4"/>
          <p:cNvGraphicFramePr/>
          <p:nvPr/>
        </p:nvGraphicFramePr>
        <p:xfrm>
          <a:off x="2614295" y="2861945"/>
          <a:ext cx="5401310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7299960" imgH="3482340" progId="Paint.Picture">
                  <p:embed/>
                </p:oleObj>
              </mc:Choice>
              <mc:Fallback>
                <p:oleObj name="" r:id="rId3" imgW="7299960" imgH="348234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4295" y="2861945"/>
                        <a:ext cx="5401310" cy="317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逻辑功能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分析</a:t>
            </a:r>
            <a:r>
              <a:rPr lang="zh-CN" altLang="en-US"/>
              <a:t>思路：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、以</a:t>
            </a:r>
            <a:r>
              <a:rPr lang="en-US" altLang="zh-CN"/>
              <a:t>2s</a:t>
            </a:r>
            <a:r>
              <a:rPr lang="zh-CN" altLang="en-US"/>
              <a:t>为单位计数，切换占空比变化模式：由大到小或由小到大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、把</a:t>
            </a:r>
            <a:r>
              <a:rPr lang="en-US" altLang="zh-CN"/>
              <a:t>2s</a:t>
            </a:r>
            <a:r>
              <a:rPr lang="zh-CN" altLang="en-US"/>
              <a:t>分成</a:t>
            </a:r>
            <a:r>
              <a:rPr lang="en-US" altLang="zh-CN"/>
              <a:t>100</a:t>
            </a:r>
            <a:r>
              <a:rPr lang="zh-CN" altLang="en-US"/>
              <a:t>份，每份</a:t>
            </a:r>
            <a:r>
              <a:rPr lang="en-US" altLang="zh-CN"/>
              <a:t>20ms</a:t>
            </a:r>
            <a:r>
              <a:rPr lang="zh-CN" altLang="en-US"/>
              <a:t>，每</a:t>
            </a:r>
            <a:r>
              <a:rPr lang="en-US" altLang="zh-CN"/>
              <a:t>20ms</a:t>
            </a:r>
            <a:r>
              <a:rPr lang="zh-CN" altLang="en-US"/>
              <a:t>占空比不同，实现占空比从</a:t>
            </a:r>
            <a:r>
              <a:rPr lang="en-US" altLang="zh-CN"/>
              <a:t>0</a:t>
            </a:r>
            <a:r>
              <a:rPr lang="en-US" altLang="zh-CN"/>
              <a:t>%</a:t>
            </a:r>
            <a:r>
              <a:rPr lang="zh-CN" altLang="en-US"/>
              <a:t>到</a:t>
            </a:r>
            <a:r>
              <a:rPr lang="en-US" altLang="zh-CN"/>
              <a:t>99</a:t>
            </a:r>
            <a:r>
              <a:rPr lang="en-US" altLang="zh-CN"/>
              <a:t>%</a:t>
            </a:r>
            <a:r>
              <a:rPr lang="zh-CN" altLang="en-US"/>
              <a:t>；在下一个</a:t>
            </a:r>
            <a:r>
              <a:rPr lang="en-US" altLang="zh-CN"/>
              <a:t>2s</a:t>
            </a:r>
            <a:r>
              <a:rPr lang="zh-CN" altLang="en-US">
                <a:sym typeface="+mn-ea"/>
              </a:rPr>
              <a:t>占空比从</a:t>
            </a:r>
            <a:r>
              <a:rPr lang="en-US" altLang="zh-CN">
                <a:sym typeface="+mn-ea"/>
              </a:rPr>
              <a:t>99</a:t>
            </a:r>
            <a:r>
              <a:rPr lang="en-US" altLang="zh-CN">
                <a:sym typeface="+mn-ea"/>
              </a:rPr>
              <a:t>%</a:t>
            </a:r>
            <a:r>
              <a:rPr lang="zh-CN" altLang="en-US">
                <a:sym typeface="+mn-ea"/>
              </a:rPr>
              <a:t>到</a:t>
            </a:r>
            <a:r>
              <a:rPr lang="en-US" altLang="zh-CN">
                <a:sym typeface="+mn-ea"/>
              </a:rPr>
              <a:t>0</a:t>
            </a:r>
            <a:r>
              <a:rPr lang="en-US" altLang="zh-CN">
                <a:sym typeface="+mn-ea"/>
              </a:rPr>
              <a:t>%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、把</a:t>
            </a:r>
            <a:r>
              <a:rPr lang="en-US" altLang="zh-CN">
                <a:sym typeface="+mn-ea"/>
              </a:rPr>
              <a:t>20ms</a:t>
            </a:r>
            <a:r>
              <a:rPr lang="zh-CN" altLang="en-US">
                <a:sym typeface="+mn-ea"/>
              </a:rPr>
              <a:t>分成</a:t>
            </a:r>
            <a:r>
              <a:rPr lang="en-US" altLang="zh-CN">
                <a:sym typeface="+mn-ea"/>
              </a:rPr>
              <a:t>100</a:t>
            </a:r>
            <a:r>
              <a:rPr lang="zh-CN" altLang="en-US">
                <a:sym typeface="+mn-ea"/>
              </a:rPr>
              <a:t>份，每份</a:t>
            </a:r>
            <a:r>
              <a:rPr lang="en-US" altLang="zh-CN">
                <a:sym typeface="+mn-ea"/>
              </a:rPr>
              <a:t>200us</a:t>
            </a:r>
            <a:r>
              <a:rPr lang="zh-CN" altLang="en-US">
                <a:sym typeface="+mn-ea"/>
              </a:rPr>
              <a:t>，用于计算和实现每个</a:t>
            </a:r>
            <a:r>
              <a:rPr lang="en-US" altLang="zh-CN">
                <a:sym typeface="+mn-ea"/>
              </a:rPr>
              <a:t>20ms</a:t>
            </a:r>
            <a:r>
              <a:rPr lang="zh-CN" altLang="en-US">
                <a:sym typeface="+mn-ea"/>
              </a:rPr>
              <a:t>所使用的占空比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、根据时钟周期</a:t>
            </a:r>
            <a:r>
              <a:rPr lang="en-US" altLang="zh-CN">
                <a:sym typeface="+mn-ea"/>
              </a:rPr>
              <a:t>40ns</a:t>
            </a:r>
            <a:r>
              <a:rPr lang="zh-CN" altLang="en-US">
                <a:sym typeface="+mn-ea"/>
              </a:rPr>
              <a:t>，每</a:t>
            </a:r>
            <a:r>
              <a:rPr lang="en-US" altLang="zh-CN">
                <a:sym typeface="+mn-ea"/>
              </a:rPr>
              <a:t>5000</a:t>
            </a:r>
            <a:r>
              <a:rPr lang="zh-CN" altLang="en-US">
                <a:sym typeface="+mn-ea"/>
              </a:rPr>
              <a:t>个时钟周期获得</a:t>
            </a:r>
            <a:r>
              <a:rPr lang="en-US" altLang="zh-CN">
                <a:sym typeface="+mn-ea"/>
              </a:rPr>
              <a:t>200us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200us</a:t>
            </a:r>
            <a:r>
              <a:rPr lang="zh-CN" altLang="en-US">
                <a:sym typeface="+mn-ea"/>
              </a:rPr>
              <a:t>定时器作为本系统的基本定时器，产生时间基准</a:t>
            </a:r>
            <a:r>
              <a:rPr lang="en-US" altLang="zh-CN">
                <a:sym typeface="+mn-ea"/>
              </a:rPr>
              <a:t>200us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逻辑功能分析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87440" y="1506855"/>
            <a:ext cx="5491480" cy="2925445"/>
          </a:xfrm>
          <a:prstGeom prst="rect">
            <a:avLst/>
          </a:prstGeom>
        </p:spPr>
      </p:pic>
      <p:sp>
        <p:nvSpPr>
          <p:cNvPr id="9" name="内容占位符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23570" y="1301750"/>
            <a:ext cx="5852160" cy="4873625"/>
          </a:xfrm>
          <a:prstGeom prst="rect">
            <a:avLst/>
          </a:prstGeom>
        </p:spPr>
        <p:txBody>
          <a:bodyPr vert="horz" wrap="square" lIns="0" tIns="0" rIns="0" bIns="0" rtlCol="0">
            <a:normAutofit fontScale="8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PWM </a:t>
            </a:r>
            <a:r>
              <a:rPr lang="zh-CN" altLang="en-US"/>
              <a:t>呼吸灯程序设计中包含了</a:t>
            </a:r>
            <a:r>
              <a:rPr lang="en-US" altLang="zh-CN"/>
              <a:t> 3 </a:t>
            </a:r>
            <a:r>
              <a:rPr lang="zh-CN" altLang="en-US"/>
              <a:t>个定时计数器：</a:t>
            </a:r>
            <a:endParaRPr lang="zh-CN" altLang="en-US"/>
          </a:p>
          <a:p>
            <a:r>
              <a:rPr lang="en-US" altLang="zh-CN">
                <a:sym typeface="+mn-ea"/>
              </a:rPr>
              <a:t>200us </a:t>
            </a:r>
            <a:r>
              <a:rPr lang="zh-CN" altLang="en-US">
                <a:sym typeface="+mn-ea"/>
              </a:rPr>
              <a:t>定时器，作为本系统的基本定时器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20ms </a:t>
            </a:r>
            <a:r>
              <a:rPr lang="zh-CN" altLang="en-US">
                <a:sym typeface="+mn-ea"/>
              </a:rPr>
              <a:t>定时器，通过</a:t>
            </a:r>
            <a:r>
              <a:rPr lang="en-US" altLang="zh-CN">
                <a:sym typeface="+mn-ea"/>
              </a:rPr>
              <a:t> 200us </a:t>
            </a:r>
            <a:r>
              <a:rPr lang="zh-CN" altLang="en-US">
                <a:sym typeface="+mn-ea"/>
              </a:rPr>
              <a:t>定时器，计数</a:t>
            </a:r>
            <a:r>
              <a:rPr lang="en-US" altLang="zh-CN">
                <a:sym typeface="+mn-ea"/>
              </a:rPr>
              <a:t> 100</a:t>
            </a:r>
            <a:r>
              <a:rPr lang="zh-CN" altLang="en-US">
                <a:sym typeface="+mn-ea"/>
              </a:rPr>
              <a:t>次完成</a:t>
            </a:r>
            <a:r>
              <a:rPr lang="en-US" altLang="zh-CN">
                <a:sym typeface="+mn-ea"/>
              </a:rPr>
              <a:t> 20ms </a:t>
            </a:r>
            <a:r>
              <a:rPr lang="zh-CN" altLang="en-US">
                <a:sym typeface="+mn-ea"/>
              </a:rPr>
              <a:t>定时计数</a:t>
            </a:r>
            <a:endParaRPr lang="zh-CN" altLang="en-US"/>
          </a:p>
          <a:p>
            <a:r>
              <a:rPr lang="en-US" altLang="zh-CN">
                <a:sym typeface="+mn-ea"/>
              </a:rPr>
              <a:t>2s </a:t>
            </a:r>
            <a:r>
              <a:rPr lang="zh-CN" altLang="en-US">
                <a:sym typeface="+mn-ea"/>
              </a:rPr>
              <a:t>定时器，通过</a:t>
            </a:r>
            <a:r>
              <a:rPr lang="en-US" altLang="zh-CN">
                <a:sym typeface="+mn-ea"/>
              </a:rPr>
              <a:t> 20ms </a:t>
            </a:r>
            <a:r>
              <a:rPr lang="zh-CN" altLang="en-US">
                <a:sym typeface="+mn-ea"/>
              </a:rPr>
              <a:t>定时器，计数</a:t>
            </a:r>
            <a:r>
              <a:rPr lang="en-US" altLang="zh-CN">
                <a:sym typeface="+mn-ea"/>
              </a:rPr>
              <a:t> 100 </a:t>
            </a:r>
            <a:r>
              <a:rPr lang="zh-CN" altLang="en-US">
                <a:sym typeface="+mn-ea"/>
              </a:rPr>
              <a:t>次完成</a:t>
            </a:r>
            <a:r>
              <a:rPr lang="en-US" altLang="zh-CN">
                <a:sym typeface="+mn-ea"/>
              </a:rPr>
              <a:t> 2S </a:t>
            </a:r>
            <a:r>
              <a:rPr lang="zh-CN" altLang="en-US">
                <a:sym typeface="+mn-ea"/>
              </a:rPr>
              <a:t>定时计数</a:t>
            </a:r>
            <a:endParaRPr lang="zh-CN" altLang="en-US"/>
          </a:p>
          <a:p>
            <a:r>
              <a:rPr lang="en-US" altLang="zh-CN">
                <a:sym typeface="+mn-ea"/>
              </a:rPr>
              <a:t>PWM </a:t>
            </a:r>
            <a:r>
              <a:rPr lang="zh-CN" altLang="en-US">
                <a:sym typeface="+mn-ea"/>
              </a:rPr>
              <a:t>每间隔</a:t>
            </a:r>
            <a:r>
              <a:rPr lang="en-US" altLang="zh-CN">
                <a:sym typeface="+mn-ea"/>
              </a:rPr>
              <a:t> 2ms </a:t>
            </a:r>
            <a:r>
              <a:rPr lang="zh-CN" altLang="en-US">
                <a:sym typeface="+mn-ea"/>
              </a:rPr>
              <a:t>更新一次，共计更新</a:t>
            </a:r>
            <a:r>
              <a:rPr lang="en-US" altLang="zh-CN">
                <a:sym typeface="+mn-ea"/>
              </a:rPr>
              <a:t> 100 </a:t>
            </a:r>
            <a:r>
              <a:rPr lang="zh-CN" altLang="en-US">
                <a:sym typeface="+mn-ea"/>
              </a:rPr>
              <a:t>次即</a:t>
            </a:r>
            <a:r>
              <a:rPr lang="en-US" altLang="zh-CN">
                <a:sym typeface="+mn-ea"/>
              </a:rPr>
              <a:t> 2S </a:t>
            </a:r>
            <a:r>
              <a:rPr lang="zh-CN" altLang="en-US">
                <a:sym typeface="+mn-ea"/>
              </a:rPr>
              <a:t>后切换</a:t>
            </a:r>
            <a:r>
              <a:rPr lang="en-US" altLang="zh-CN">
                <a:sym typeface="+mn-ea"/>
              </a:rPr>
              <a:t> PWM </a:t>
            </a:r>
            <a:r>
              <a:rPr lang="zh-CN" altLang="en-US">
                <a:sym typeface="+mn-ea"/>
              </a:rPr>
              <a:t>的占空比调整方向。因此</a:t>
            </a:r>
            <a:r>
              <a:rPr lang="en-US" altLang="zh-CN">
                <a:sym typeface="+mn-ea"/>
              </a:rPr>
              <a:t> PWM </a:t>
            </a:r>
            <a:r>
              <a:rPr lang="zh-CN" altLang="en-US">
                <a:sym typeface="+mn-ea"/>
              </a:rPr>
              <a:t>占空比的调整是和</a:t>
            </a:r>
            <a:r>
              <a:rPr lang="en-US" altLang="zh-CN">
                <a:sym typeface="+mn-ea"/>
              </a:rPr>
              <a:t> 2ms </a:t>
            </a:r>
            <a:r>
              <a:rPr lang="zh-CN" altLang="en-US">
                <a:sym typeface="+mn-ea"/>
              </a:rPr>
              <a:t>定时计数器和</a:t>
            </a:r>
            <a:r>
              <a:rPr lang="en-US" altLang="zh-CN">
                <a:sym typeface="+mn-ea"/>
              </a:rPr>
              <a:t> 2S </a:t>
            </a:r>
            <a:r>
              <a:rPr lang="zh-CN" altLang="en-US">
                <a:sym typeface="+mn-ea"/>
              </a:rPr>
              <a:t>定时计数器相关。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逻辑功能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/>
              <a:t>t200us_cnt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200us</a:t>
            </a:r>
            <a:r>
              <a:rPr lang="zh-CN" altLang="en-US">
                <a:sym typeface="+mn-ea"/>
              </a:rPr>
              <a:t>内计数，根据时钟周期变化，</a:t>
            </a:r>
            <a:r>
              <a:rPr lang="en-US" altLang="zh-CN">
                <a:sym typeface="+mn-ea"/>
              </a:rPr>
              <a:t>0~4999</a:t>
            </a:r>
            <a:endParaRPr lang="en-US" altLang="zh-CN">
              <a:sym typeface="+mn-ea"/>
            </a:endParaRPr>
          </a:p>
          <a:p>
            <a:r>
              <a:rPr lang="en-US" altLang="zh-CN"/>
              <a:t>t200us_done</a:t>
            </a:r>
            <a:r>
              <a:rPr lang="zh-CN" altLang="en-US">
                <a:sym typeface="+mn-ea"/>
              </a:rPr>
              <a:t>：每</a:t>
            </a:r>
            <a:r>
              <a:rPr lang="en-US" altLang="zh-CN">
                <a:sym typeface="+mn-ea"/>
              </a:rPr>
              <a:t>200us</a:t>
            </a:r>
            <a:r>
              <a:rPr lang="zh-CN" altLang="en-US">
                <a:sym typeface="+mn-ea"/>
              </a:rPr>
              <a:t>置为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，</a:t>
            </a:r>
            <a:endParaRPr lang="en-US" altLang="zh-CN"/>
          </a:p>
          <a:p>
            <a:r>
              <a:rPr lang="en-US" altLang="zh-CN">
                <a:sym typeface="+mn-ea"/>
              </a:rPr>
              <a:t>t20ms_cnt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20ms</a:t>
            </a:r>
            <a:r>
              <a:rPr lang="zh-CN" altLang="en-US">
                <a:sym typeface="+mn-ea"/>
              </a:rPr>
              <a:t>内计数，</a:t>
            </a:r>
            <a:r>
              <a:rPr lang="en-US" altLang="zh-CN">
                <a:sym typeface="+mn-ea"/>
              </a:rPr>
              <a:t>0~99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t20ms_done</a:t>
            </a:r>
            <a:r>
              <a:rPr lang="zh-CN" altLang="en-US">
                <a:sym typeface="+mn-ea"/>
              </a:rPr>
              <a:t>：每</a:t>
            </a:r>
            <a:r>
              <a:rPr lang="en-US" altLang="zh-CN">
                <a:sym typeface="+mn-ea"/>
              </a:rPr>
              <a:t>20ms</a:t>
            </a:r>
            <a:r>
              <a:rPr lang="zh-CN" altLang="en-US">
                <a:sym typeface="+mn-ea"/>
              </a:rPr>
              <a:t>置为</a:t>
            </a:r>
            <a:r>
              <a:rPr lang="en-US" altLang="zh-CN">
                <a:sym typeface="+mn-ea"/>
              </a:rPr>
              <a:t>1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pwm_cnt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0~99</a:t>
            </a:r>
            <a:r>
              <a:rPr lang="zh-CN" altLang="en-US">
                <a:sym typeface="+mn-ea"/>
              </a:rPr>
              <a:t>，每</a:t>
            </a:r>
            <a:r>
              <a:rPr lang="en-US" altLang="zh-CN">
                <a:sym typeface="+mn-ea"/>
              </a:rPr>
              <a:t>20ms</a:t>
            </a:r>
            <a:r>
              <a:rPr lang="zh-CN" altLang="en-US">
                <a:sym typeface="+mn-ea"/>
              </a:rPr>
              <a:t>变化一次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PWM_S</a:t>
            </a:r>
            <a:r>
              <a:rPr lang="zh-CN" altLang="en-US">
                <a:sym typeface="+mn-ea"/>
              </a:rPr>
              <a:t>：每</a:t>
            </a:r>
            <a:r>
              <a:rPr lang="en-US" altLang="zh-CN">
                <a:sym typeface="+mn-ea"/>
              </a:rPr>
              <a:t>2s</a:t>
            </a:r>
            <a:r>
              <a:rPr lang="zh-CN" altLang="en-US">
                <a:sym typeface="+mn-ea"/>
              </a:rPr>
              <a:t>变化一次，用于切换占空比变化模式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T200US_SET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 5000 - 1   (</a:t>
            </a:r>
            <a:r>
              <a:rPr lang="zh-CN" altLang="en-US">
                <a:sym typeface="+mn-ea"/>
              </a:rPr>
              <a:t>20</a:t>
            </a:r>
            <a:r>
              <a:rPr lang="en-US" altLang="zh-CN">
                <a:sym typeface="+mn-ea"/>
              </a:rPr>
              <a:t>us/40ns)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T20MS_SET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100 - 1  (</a:t>
            </a:r>
            <a:r>
              <a:rPr lang="zh-CN" altLang="en-US">
                <a:sym typeface="+mn-ea"/>
              </a:rPr>
              <a:t>20</a:t>
            </a:r>
            <a:r>
              <a:rPr lang="en-US" altLang="zh-CN">
                <a:sym typeface="+mn-ea"/>
              </a:rPr>
              <a:t>ms/200us)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PWM_SET :100 - 1      (0%~99%</a:t>
            </a:r>
            <a:r>
              <a:rPr lang="zh-CN" altLang="en-US">
                <a:sym typeface="+mn-ea"/>
              </a:rPr>
              <a:t>，需要分成</a:t>
            </a:r>
            <a:r>
              <a:rPr lang="en-US" altLang="zh-CN">
                <a:sym typeface="+mn-ea"/>
              </a:rPr>
              <a:t>100</a:t>
            </a:r>
            <a:r>
              <a:rPr lang="zh-CN" altLang="en-US">
                <a:sym typeface="+mn-ea"/>
              </a:rPr>
              <a:t>份</a:t>
            </a:r>
            <a:r>
              <a:rPr lang="en-US" altLang="zh-CN">
                <a:sym typeface="+mn-ea"/>
              </a:rPr>
              <a:t>)</a:t>
            </a:r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/>
          </a:p>
          <a:p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逻辑功能设计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第一步：获得</a:t>
            </a:r>
            <a:r>
              <a:rPr lang="en-US" altLang="zh-CN">
                <a:sym typeface="+mn-ea"/>
              </a:rPr>
              <a:t>200us</a:t>
            </a:r>
            <a:r>
              <a:rPr lang="zh-CN" altLang="en-US">
                <a:sym typeface="+mn-ea"/>
              </a:rPr>
              <a:t>基准，用于计算和实现每个</a:t>
            </a:r>
            <a:r>
              <a:rPr lang="en-US" altLang="zh-CN">
                <a:sym typeface="+mn-ea"/>
              </a:rPr>
              <a:t>20ms</a:t>
            </a:r>
            <a:r>
              <a:rPr lang="zh-CN" altLang="en-US">
                <a:sym typeface="+mn-ea"/>
              </a:rPr>
              <a:t>所使用的占空比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定义</a:t>
            </a:r>
            <a:r>
              <a:rPr lang="en-US" altLang="zh-CN">
                <a:sym typeface="+mn-ea"/>
              </a:rPr>
              <a:t>t200us_cnt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200us</a:t>
            </a:r>
            <a:r>
              <a:rPr lang="zh-CN" altLang="en-US">
                <a:sym typeface="+mn-ea"/>
              </a:rPr>
              <a:t>内计数，根据时钟周期</a:t>
            </a:r>
            <a:r>
              <a:rPr lang="en-US" altLang="zh-CN">
                <a:sym typeface="+mn-ea"/>
              </a:rPr>
              <a:t>40</a:t>
            </a:r>
            <a:r>
              <a:rPr lang="zh-CN" altLang="en-US">
                <a:sym typeface="+mn-ea"/>
              </a:rPr>
              <a:t>纳秒，计数范围</a:t>
            </a:r>
            <a:r>
              <a:rPr lang="en-US" altLang="zh-CN">
                <a:sym typeface="+mn-ea"/>
              </a:rPr>
              <a:t>0~4999</a:t>
            </a:r>
            <a:r>
              <a:rPr lang="zh-CN" altLang="en-US">
                <a:sym typeface="+mn-ea"/>
              </a:rPr>
              <a:t>：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定义</a:t>
            </a:r>
            <a:r>
              <a:rPr lang="en-US" altLang="zh-CN">
                <a:sym typeface="+mn-ea"/>
              </a:rPr>
              <a:t>t200us_done</a:t>
            </a:r>
            <a:r>
              <a:rPr lang="zh-CN" altLang="en-US">
                <a:sym typeface="+mn-ea"/>
              </a:rPr>
              <a:t>：每到达</a:t>
            </a:r>
            <a:r>
              <a:rPr lang="en-US" altLang="zh-CN">
                <a:sym typeface="+mn-ea"/>
              </a:rPr>
              <a:t>200us</a:t>
            </a:r>
            <a:r>
              <a:rPr lang="zh-CN" altLang="en-US">
                <a:sym typeface="+mn-ea"/>
              </a:rPr>
              <a:t>置为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185" y="5518150"/>
            <a:ext cx="8181975" cy="10166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185" y="2438400"/>
            <a:ext cx="7553325" cy="25520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逻辑功能设计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第二步：获得</a:t>
            </a:r>
            <a:r>
              <a:rPr lang="en-US" altLang="zh-CN">
                <a:sym typeface="+mn-ea"/>
              </a:rPr>
              <a:t>20ms</a:t>
            </a:r>
            <a:r>
              <a:rPr lang="zh-CN" altLang="en-US">
                <a:sym typeface="+mn-ea"/>
              </a:rPr>
              <a:t>计数，每到达</a:t>
            </a:r>
            <a:r>
              <a:rPr lang="en-US" altLang="zh-CN">
                <a:sym typeface="+mn-ea"/>
              </a:rPr>
              <a:t>20ms</a:t>
            </a:r>
            <a:r>
              <a:rPr lang="zh-CN" altLang="en-US">
                <a:sym typeface="+mn-ea"/>
              </a:rPr>
              <a:t>用</a:t>
            </a:r>
            <a:r>
              <a:rPr lang="en-US" altLang="zh-CN">
                <a:sym typeface="+mn-ea"/>
              </a:rPr>
              <a:t>t20ms_done</a:t>
            </a:r>
            <a:r>
              <a:rPr lang="zh-CN" altLang="en-US">
                <a:sym typeface="+mn-ea"/>
              </a:rPr>
              <a:t>标记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定义</a:t>
            </a:r>
            <a:r>
              <a:rPr lang="en-US" altLang="zh-CN">
                <a:sym typeface="+mn-ea"/>
              </a:rPr>
              <a:t>t20ms_cnt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20ms</a:t>
            </a:r>
            <a:r>
              <a:rPr lang="zh-CN" altLang="en-US">
                <a:sym typeface="+mn-ea"/>
              </a:rPr>
              <a:t>内计数，</a:t>
            </a:r>
            <a:r>
              <a:rPr lang="en-US" altLang="zh-CN">
                <a:sym typeface="+mn-ea"/>
              </a:rPr>
              <a:t>0~99</a:t>
            </a:r>
            <a:r>
              <a:rPr lang="zh-CN" altLang="en-US">
                <a:sym typeface="+mn-ea"/>
              </a:rPr>
              <a:t>，每</a:t>
            </a:r>
            <a:r>
              <a:rPr lang="en-US" altLang="zh-CN">
                <a:sym typeface="+mn-ea"/>
              </a:rPr>
              <a:t>200us</a:t>
            </a:r>
            <a:r>
              <a:rPr lang="zh-CN" altLang="en-US">
                <a:sym typeface="+mn-ea"/>
              </a:rPr>
              <a:t>变化一次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定义</a:t>
            </a:r>
            <a:r>
              <a:rPr lang="en-US" altLang="zh-CN">
                <a:sym typeface="+mn-ea"/>
              </a:rPr>
              <a:t>t20ms_done</a:t>
            </a:r>
            <a:r>
              <a:rPr lang="zh-CN" altLang="en-US">
                <a:sym typeface="+mn-ea"/>
              </a:rPr>
              <a:t>：每</a:t>
            </a:r>
            <a:r>
              <a:rPr lang="en-US" altLang="zh-CN">
                <a:sym typeface="+mn-ea"/>
              </a:rPr>
              <a:t>20ms</a:t>
            </a:r>
            <a:r>
              <a:rPr lang="zh-CN" altLang="en-US">
                <a:sym typeface="+mn-ea"/>
              </a:rPr>
              <a:t>置为</a:t>
            </a:r>
            <a:r>
              <a:rPr lang="en-US" altLang="zh-CN">
                <a:sym typeface="+mn-ea"/>
              </a:rPr>
              <a:t>1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925" y="2379345"/>
            <a:ext cx="10441305" cy="31991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925" y="5974080"/>
            <a:ext cx="8996045" cy="7740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逻辑功能设计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第三步：将每个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两秒中的</a:t>
            </a:r>
            <a:r>
              <a:rPr lang="en-US" altLang="zh-CN">
                <a:sym typeface="+mn-ea"/>
              </a:rPr>
              <a:t>100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200ms</a:t>
            </a:r>
            <a:r>
              <a:rPr lang="zh-CN" altLang="en-US">
                <a:sym typeface="+mn-ea"/>
              </a:rPr>
              <a:t>都进行计数标记，用于计算占空比和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秒</a:t>
            </a:r>
            <a:r>
              <a:rPr lang="zh-CN" altLang="en-US">
                <a:sym typeface="+mn-ea"/>
              </a:rPr>
              <a:t>计时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定义</a:t>
            </a:r>
            <a:r>
              <a:rPr lang="en-US" altLang="zh-CN">
                <a:sym typeface="+mn-ea"/>
              </a:rPr>
              <a:t>pwm_cnt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0~99</a:t>
            </a:r>
            <a:r>
              <a:rPr lang="zh-CN" altLang="en-US">
                <a:sym typeface="+mn-ea"/>
              </a:rPr>
              <a:t>，每</a:t>
            </a:r>
            <a:r>
              <a:rPr lang="en-US" altLang="zh-CN">
                <a:sym typeface="+mn-ea"/>
              </a:rPr>
              <a:t>20ms</a:t>
            </a:r>
            <a:r>
              <a:rPr lang="zh-CN" altLang="en-US">
                <a:sym typeface="+mn-ea"/>
              </a:rPr>
              <a:t>变化一次</a:t>
            </a:r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079750"/>
            <a:ext cx="9874250" cy="3095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逻辑功能设计</a:t>
            </a:r>
            <a:r>
              <a:rPr lang="en-US" altLang="zh-CN">
                <a:sym typeface="+mn-ea"/>
              </a:rPr>
              <a:t>4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步：每</a:t>
            </a:r>
            <a:r>
              <a:rPr lang="en-US" altLang="zh-CN"/>
              <a:t>2</a:t>
            </a:r>
            <a:r>
              <a:rPr lang="zh-CN" altLang="en-US"/>
              <a:t>秒切换一次呼吸状态，记录当前是渐暗</a:t>
            </a:r>
            <a:r>
              <a:rPr lang="zh-CN" altLang="en-US"/>
              <a:t>还是者渐亮</a:t>
            </a:r>
            <a:endParaRPr lang="zh-CN" altLang="en-US"/>
          </a:p>
          <a:p>
            <a:r>
              <a:rPr lang="zh-CN" altLang="en-US"/>
              <a:t>定义</a:t>
            </a:r>
            <a:r>
              <a:rPr lang="en-US" altLang="zh-CN"/>
              <a:t>PWM_S</a:t>
            </a:r>
            <a:r>
              <a:rPr lang="zh-CN" altLang="en-US"/>
              <a:t>：基于</a:t>
            </a:r>
            <a:r>
              <a:rPr lang="en-US" altLang="zh-CN">
                <a:sym typeface="+mn-ea"/>
              </a:rPr>
              <a:t>t20ms_done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pwm_cnt</a:t>
            </a:r>
            <a:r>
              <a:rPr lang="zh-CN" altLang="en-US"/>
              <a:t>每到达</a:t>
            </a:r>
            <a:r>
              <a:rPr lang="en-US" altLang="zh-CN"/>
              <a:t>2</a:t>
            </a:r>
            <a:r>
              <a:rPr lang="zh-CN" altLang="en-US"/>
              <a:t>秒时刻进行</a:t>
            </a:r>
            <a:r>
              <a:rPr lang="zh-CN" altLang="en-US"/>
              <a:t>取反切换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135" y="2641600"/>
            <a:ext cx="8284845" cy="33350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逻辑功能设计</a:t>
            </a:r>
            <a:r>
              <a:rPr lang="en-US" altLang="zh-CN">
                <a:sym typeface="+mn-ea"/>
              </a:rPr>
              <a:t>5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第五步：实现</a:t>
            </a:r>
            <a:r>
              <a:rPr lang="zh-CN" altLang="en-US"/>
              <a:t>输出</a:t>
            </a:r>
            <a:r>
              <a:rPr lang="en-US" altLang="zh-CN"/>
              <a:t>LED</a:t>
            </a:r>
            <a:r>
              <a:rPr lang="zh-CN" altLang="en-US"/>
              <a:t>灯</a:t>
            </a:r>
            <a:r>
              <a:rPr lang="zh-CN" altLang="en-US"/>
              <a:t>状态</a:t>
            </a:r>
            <a:endParaRPr lang="zh-CN" altLang="en-US"/>
          </a:p>
          <a:p>
            <a:r>
              <a:rPr lang="zh-CN" altLang="en-US"/>
              <a:t>定义</a:t>
            </a:r>
            <a:r>
              <a:rPr lang="en-US" altLang="zh-CN"/>
              <a:t>o_pwm: </a:t>
            </a:r>
            <a:endParaRPr lang="en-US" altLang="zh-CN"/>
          </a:p>
          <a:p>
            <a:r>
              <a:rPr lang="zh-CN" altLang="en-US"/>
              <a:t>当</a:t>
            </a:r>
            <a:r>
              <a:rPr lang="en-US" altLang="zh-CN"/>
              <a:t>PWM_S</a:t>
            </a:r>
            <a:r>
              <a:rPr lang="zh-CN" altLang="en-US"/>
              <a:t>为</a:t>
            </a:r>
            <a:r>
              <a:rPr lang="en-US" altLang="zh-CN"/>
              <a:t>0</a:t>
            </a:r>
            <a:r>
              <a:rPr lang="zh-CN" altLang="en-US"/>
              <a:t>时，通过</a:t>
            </a:r>
            <a:r>
              <a:rPr lang="en-US" altLang="zh-CN"/>
              <a:t>pwm_cnt</a:t>
            </a:r>
            <a:r>
              <a:rPr lang="zh-CN" altLang="en-US"/>
              <a:t>（</a:t>
            </a:r>
            <a:r>
              <a:rPr lang="en-US" altLang="zh-CN"/>
              <a:t>0~99</a:t>
            </a:r>
            <a:r>
              <a:rPr lang="zh-CN" altLang="en-US"/>
              <a:t>，每</a:t>
            </a:r>
            <a:r>
              <a:rPr lang="en-US" altLang="zh-CN"/>
              <a:t>20ms</a:t>
            </a:r>
            <a:r>
              <a:rPr lang="zh-CN" altLang="en-US"/>
              <a:t>变化一次）与</a:t>
            </a:r>
            <a:r>
              <a:rPr lang="en-US" altLang="zh-CN"/>
              <a:t>t20ms_cnt</a:t>
            </a:r>
            <a:r>
              <a:rPr lang="zh-CN" altLang="en-US"/>
              <a:t>（</a:t>
            </a:r>
            <a:r>
              <a:rPr lang="en-US" altLang="zh-CN"/>
              <a:t>0~99</a:t>
            </a:r>
            <a:r>
              <a:rPr lang="zh-CN" altLang="en-US"/>
              <a:t>，每</a:t>
            </a:r>
            <a:r>
              <a:rPr lang="en-US" altLang="zh-CN"/>
              <a:t>200us</a:t>
            </a:r>
            <a:r>
              <a:rPr lang="zh-CN" altLang="en-US"/>
              <a:t>变化</a:t>
            </a:r>
            <a:r>
              <a:rPr lang="zh-CN" altLang="en-US"/>
              <a:t>一次）实现渐亮；</a:t>
            </a:r>
            <a:endParaRPr lang="zh-CN" altLang="en-US"/>
          </a:p>
          <a:p>
            <a:r>
              <a:rPr lang="zh-CN" altLang="en-US">
                <a:sym typeface="+mn-ea"/>
              </a:rPr>
              <a:t>当</a:t>
            </a:r>
            <a:r>
              <a:rPr lang="en-US" altLang="zh-CN">
                <a:sym typeface="+mn-ea"/>
              </a:rPr>
              <a:t>PWM_S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时，通过</a:t>
            </a:r>
            <a:r>
              <a:rPr lang="en-US" altLang="zh-CN">
                <a:sym typeface="+mn-ea"/>
              </a:rPr>
              <a:t>pwm_cnt</a:t>
            </a:r>
            <a:r>
              <a:rPr lang="zh-CN" altLang="en-US">
                <a:sym typeface="+mn-ea"/>
              </a:rPr>
              <a:t>与</a:t>
            </a:r>
            <a:r>
              <a:rPr lang="en-US" altLang="zh-CN">
                <a:sym typeface="+mn-ea"/>
              </a:rPr>
              <a:t>t20ms_cnt</a:t>
            </a:r>
            <a:r>
              <a:rPr lang="zh-CN" altLang="en-US">
                <a:sym typeface="+mn-ea"/>
              </a:rPr>
              <a:t>实现渐</a:t>
            </a:r>
            <a:r>
              <a:rPr lang="zh-CN" altLang="en-US">
                <a:sym typeface="+mn-ea"/>
              </a:rPr>
              <a:t>暗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40" y="4241800"/>
            <a:ext cx="10632440" cy="9747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" y="5577205"/>
            <a:ext cx="12056110" cy="5181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激励</a:t>
            </a:r>
            <a:r>
              <a:rPr lang="zh-CN" altLang="en-US"/>
              <a:t>仿真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复位</a:t>
            </a:r>
            <a:r>
              <a:rPr lang="zh-CN" altLang="en-US"/>
              <a:t>激励</a:t>
            </a:r>
            <a:endParaRPr lang="zh-CN" altLang="en-US"/>
          </a:p>
          <a:p>
            <a:r>
              <a:rPr lang="zh-CN" altLang="en-US"/>
              <a:t>时钟</a:t>
            </a:r>
            <a:r>
              <a:rPr lang="zh-CN" altLang="en-US"/>
              <a:t>激励</a:t>
            </a:r>
            <a:endParaRPr lang="zh-CN" altLang="en-US"/>
          </a:p>
          <a:p>
            <a:r>
              <a:rPr lang="zh-CN" altLang="en-US"/>
              <a:t>例化设计</a:t>
            </a:r>
            <a:r>
              <a:rPr lang="zh-CN" altLang="en-US"/>
              <a:t>模块</a:t>
            </a:r>
            <a:endParaRPr lang="zh-CN" altLang="en-US"/>
          </a:p>
          <a:p>
            <a:r>
              <a:rPr lang="zh-CN" altLang="en-US"/>
              <a:t>观察</a:t>
            </a:r>
            <a:r>
              <a:rPr lang="zh-CN" altLang="en-US"/>
              <a:t>输出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约束</a:t>
            </a:r>
            <a:r>
              <a:rPr lang="zh-CN" altLang="en-US"/>
              <a:t>文件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53565" y="1071245"/>
            <a:ext cx="7950200" cy="49987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思考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如何实现</a:t>
            </a:r>
            <a:r>
              <a:rPr lang="en-US" altLang="zh-CN">
                <a:sym typeface="+mn-ea"/>
              </a:rPr>
              <a:t>LED</a:t>
            </a:r>
            <a:r>
              <a:rPr lang="zh-CN" altLang="en-US">
                <a:sym typeface="+mn-ea"/>
              </a:rPr>
              <a:t>亮度渐变工作周期为</a:t>
            </a:r>
            <a:r>
              <a:rPr lang="en-US" altLang="zh-CN">
                <a:sym typeface="+mn-ea"/>
              </a:rPr>
              <a:t>8s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形成连贯的呼吸视觉效果。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99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299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9"/>
  <p:tag name="KSO_WM_TEMPLATE_THUMBS_INDEX" val="1、9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1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单击添加文档标题"/>
  <p:tag name="KSO_WM_UNIT_TEXT_TYPE" val="1"/>
</p:tagLst>
</file>

<file path=ppt/tags/tag69.xml><?xml version="1.0" encoding="utf-8"?>
<p:tagLst xmlns:p="http://schemas.openxmlformats.org/presentationml/2006/main">
  <p:tag name="KSO_WM_SLIDE_ID" val="custom2023329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4.xml><?xml version="1.0" encoding="utf-8"?>
<p:tagLst xmlns:p="http://schemas.openxmlformats.org/presentationml/2006/main">
  <p:tag name="KSO_WM_UNIT_SUBTYPE" val="a"/>
</p:tagLst>
</file>

<file path=ppt/tags/tag75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f*1"/>
  <p:tag name="KSO_WM_TEMPLATE_CATEGORY" val="custom"/>
  <p:tag name="KSO_WM_TEMPLATE_INDEX" val="20233299"/>
  <p:tag name="KSO_WM_UNIT_LAYERLEVEL" val="1"/>
  <p:tag name="KSO_WM_TAG_VERSION" val="3.0"/>
  <p:tag name="KSO_WM_UNIT_SUBTYPE" val="a"/>
  <p:tag name="KSO_WM_UNIT_NOCLEAR" val="0"/>
  <p:tag name="KSO_WM_UNIT_VALUE" val="330"/>
  <p:tag name="KSO_WM_UNIT_PRESET_TEXT" val="单击此处添加文本"/>
  <p:tag name="KSO_WM_UNIT_TEXT_TYPE" val="1"/>
</p:tagLst>
</file>

<file path=ppt/tags/tag82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UNIT_SUBTYPE" val="a"/>
  <p:tag name="KSO_WM_UNIT_PRESET_TEXT" val="单击此处编辑母版文本样式&#10;二级&#10;三级&#10;四级&#10;五级"/>
  <p:tag name="KSO_WM_UNIT_NOCLEAR" val="0"/>
  <p:tag name="KSO_WM_UNIT_VALUE" val="330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heme/theme1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自定义 45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1710</Words>
  <Application>WPS 演示</Application>
  <PresentationFormat>宽屏</PresentationFormat>
  <Paragraphs>158</Paragraphs>
  <Slides>19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MiSans Demibold</vt:lpstr>
      <vt:lpstr>微软雅黑</vt:lpstr>
      <vt:lpstr>Arial Unicode MS</vt:lpstr>
      <vt:lpstr>Calibri</vt:lpstr>
      <vt:lpstr>Office 主题​​</vt:lpstr>
      <vt:lpstr>Paint.Picture</vt:lpstr>
      <vt:lpstr>Paint.Picture</vt:lpstr>
      <vt:lpstr>Paint.Picture</vt:lpstr>
      <vt:lpstr>Verilog程序设计实例  呼吸灯</vt:lpstr>
      <vt:lpstr>概述</vt:lpstr>
      <vt:lpstr>概述</vt:lpstr>
      <vt:lpstr>概述</vt:lpstr>
      <vt:lpstr>题目要求</vt:lpstr>
      <vt:lpstr>步骤</vt:lpstr>
      <vt:lpstr>需求分析</vt:lpstr>
      <vt:lpstr>接口分析</vt:lpstr>
      <vt:lpstr>逻辑功能分析</vt:lpstr>
      <vt:lpstr>逻辑功能分析</vt:lpstr>
      <vt:lpstr>逻辑功能分析</vt:lpstr>
      <vt:lpstr>逻辑功能设计1</vt:lpstr>
      <vt:lpstr>逻辑功能设计2</vt:lpstr>
      <vt:lpstr>逻辑功能设计3</vt:lpstr>
      <vt:lpstr>逻辑功能设计4</vt:lpstr>
      <vt:lpstr>逻辑功能设计5</vt:lpstr>
      <vt:lpstr>激励仿真</vt:lpstr>
      <vt:lpstr>约束文件</vt:lpstr>
      <vt:lpstr>思考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Lydia阮</cp:lastModifiedBy>
  <cp:revision>341</cp:revision>
  <dcterms:created xsi:type="dcterms:W3CDTF">2019-06-19T02:08:00Z</dcterms:created>
  <dcterms:modified xsi:type="dcterms:W3CDTF">2026-05-07T08:33:56Z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DD7C6D532B9D40A0B84905A16DB2E2AF_13</vt:lpwstr>
  </property>
</Properties>
</file>