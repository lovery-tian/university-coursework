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8000"/>
            <a:ext cx="12192000" cy="5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90000"/>
            <a:ext cx="12192000" cy="12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46000"/>
            <a:ext cx="12192000" cy="12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000" y="1200000"/>
            <a:ext cx="10600000" cy="420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000" y="1200000"/>
            <a:ext cx="50000" cy="4200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00000" y="850000"/>
            <a:ext cx="5200000" cy="400000"/>
          </a:xfrm>
          <a:prstGeom prst="roundRect">
            <a:avLst/>
          </a:prstGeom>
          <a:solidFill>
            <a:srgbClr val="3D1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0000" y="880000"/>
            <a:ext cx="5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E8D0F5"/>
                </a:solidFill>
                <a:latin typeface="微软雅黑" panose="020B0503020204020204" charset="-122"/>
              </a:defRPr>
            </a:pPr>
            <a:r>
              <a:t>《Python与人工智能》课程答辩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1600000"/>
            <a:ext cx="98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基于高阶累积量和随机森林的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000" y="2300000"/>
            <a:ext cx="98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4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调制信号识别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00000" y="3100000"/>
            <a:ext cx="9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C88DE0"/>
                </a:solidFill>
                <a:latin typeface="Arial" panose="020B0604020202020204"/>
              </a:defRPr>
            </a:pPr>
            <a:r>
              <a:t>Automatic Modulation Recognition based on HOC and Random Forest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0" y="3600000"/>
            <a:ext cx="42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00120" y="3900170"/>
            <a:ext cx="5208905" cy="1687195"/>
          </a:xfrm>
          <a:prstGeom prst="roundRect">
            <a:avLst/>
          </a:prstGeom>
          <a:solidFill>
            <a:srgbClr val="3D1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0000" y="4000000"/>
            <a:ext cx="4600000" cy="1476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700"/>
              </a:lnSpc>
              <a:defRPr sz="1800" b="0">
                <a:solidFill>
                  <a:srgbClr val="FFF5CC"/>
                </a:solidFill>
                <a:latin typeface="微软雅黑" panose="020B0503020204020204" charset="-122"/>
              </a:defRPr>
            </a:pPr>
            <a:r>
              <a:t>汇  报  人：曾俊超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FFF5CC"/>
                </a:solidFill>
                <a:latin typeface="微软雅黑" panose="020B0503020204020204" charset="-122"/>
              </a:defRPr>
            </a:pPr>
            <a:r>
              <a:t>班        级：电子信息工程2302班 #15号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FFF5CC"/>
                </a:solidFill>
                <a:latin typeface="微软雅黑" panose="020B0503020204020204" charset="-122"/>
              </a:defRPr>
            </a:pPr>
            <a:r>
              <a:t>学        院：智能科学与工程学院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FFF5CC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200000" y="5767640"/>
            <a:ext cx="98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988AA"/>
                </a:solidFill>
                <a:latin typeface="微软雅黑" panose="020B0503020204020204" charset="-122"/>
              </a:defRPr>
            </a:pPr>
            <a: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0000"/>
            <a:ext cx="12192000" cy="12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150000"/>
            <a:ext cx="11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目录  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0000" y="1100000"/>
            <a:ext cx="9200000" cy="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0000" y="1250000"/>
            <a:ext cx="500000" cy="50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0" y="1300000"/>
            <a:ext cx="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122000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0000" y="155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调制识别意义 · 高阶累积量优势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0000" y="2100000"/>
            <a:ext cx="9200000" cy="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00000" y="2250000"/>
            <a:ext cx="500000" cy="50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0000" y="2300000"/>
            <a:ext cx="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0000" y="222000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0000" y="255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数据预处理 · 模型对比 · 随机森林 · 超参数调优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0000" y="3100000"/>
            <a:ext cx="9200000" cy="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00000" y="3250000"/>
            <a:ext cx="500000" cy="50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0000" y="3300000"/>
            <a:ext cx="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0000" y="322000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0000" y="355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混淆矩阵 · 特征重要性 · ROC · 学习曲线 · SNR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0000" y="4100000"/>
            <a:ext cx="9200000" cy="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00000" y="4250000"/>
            <a:ext cx="500000" cy="50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00000" y="4300000"/>
            <a:ext cx="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0000" y="422000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课题分解与进度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0" y="455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技术路线 · 甘特图 · 任务分解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0000" y="5100000"/>
            <a:ext cx="9200000" cy="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00000" y="5250000"/>
            <a:ext cx="500000" cy="50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0" y="5300000"/>
            <a:ext cx="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00000" y="522000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00000" y="555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成果 · 风险分析 · 改进方向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一、项目背景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850000"/>
            <a:ext cx="5400000" cy="26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90000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调制识别（AMR）的意义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1230000"/>
            <a:ext cx="3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1287770"/>
            <a:ext cx="5000000" cy="2091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认知无线电、频谱监测、电子战的关键前置步骤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传统方法依赖专家经验和固定阈值，难以适应复杂环境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  实现 BPSK/QPSK/8PSK/16QAM 四种调制自动识别结合 HOC + 随机森林构建端到端识别系统</a:t>
            </a:r>
            <a:endParaRPr sz="1600"/>
          </a:p>
        </p:txBody>
      </p:sp>
      <p:sp>
        <p:nvSpPr>
          <p:cNvPr id="12" name="Rounded Rectangle 11"/>
          <p:cNvSpPr/>
          <p:nvPr/>
        </p:nvSpPr>
        <p:spPr>
          <a:xfrm>
            <a:off x="6000000" y="850000"/>
            <a:ext cx="5800000" cy="26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0000" y="900000"/>
            <a:ext cx="54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高阶累积量（HOC）的核心优势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0" y="1230000"/>
            <a:ext cx="3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0" y="1350000"/>
            <a:ext cx="54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高斯噪声的高阶累积量恒为零 → 天然抑制噪声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无需额外滤波，直接从信号中提取判别特征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7 维特征：C20, C21, C40, C41, C42, C60, C63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四阶累积量与星座图几何结构直接相关</a:t>
            </a:r>
          </a:p>
        </p:txBody>
      </p:sp>
      <p:pic>
        <p:nvPicPr>
          <p:cNvPr id="16" name="Picture 15" descr="constel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215" y="3700145"/>
            <a:ext cx="5405120" cy="206946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00000" y="3700000"/>
            <a:ext cx="6400000" cy="24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3750000"/>
            <a:ext cx="6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项目目标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4080000"/>
            <a:ext cx="2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4150000"/>
            <a:ext cx="60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自动提取高阶累积量特征（7维）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随机森林分类器准确识别调制类型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超参数调优 + 交叉验证 + SNR扫描全面评估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验证四阶累积量在调制识别中的主导作用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一、项目背景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3 / 17</a:t>
            </a:r>
          </a:p>
        </p:txBody>
      </p:sp>
      <p:pic>
        <p:nvPicPr>
          <p:cNvPr id="8" name="Picture 7" descr="hoc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" y="1062355"/>
            <a:ext cx="6242685" cy="53670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00000" y="850000"/>
            <a:ext cx="4900000" cy="52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0" y="900000"/>
            <a:ext cx="45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0" y="1230000"/>
            <a:ext cx="25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0" y="1350000"/>
            <a:ext cx="4500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C20 唯一区分 BPSK（=1.00）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与其他三种调制（=0.00）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C40, C41, C42 是区分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QPSK / 8PSK / 16QAM 的关键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QPSK vs 16QAM：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C40 比值 -1.00/-0.68 ≈ 1.47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差异仅 47% → 易混淆根源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04470" y="4757420"/>
          <a:ext cx="64998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845"/>
                <a:gridCol w="1299845"/>
                <a:gridCol w="1300480"/>
                <a:gridCol w="1299845"/>
                <a:gridCol w="1299845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BPSK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QPSK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8PSK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16QAM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C20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C41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-2.00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C21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二、研究内容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4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616320"/>
            <a:ext cx="5600000" cy="32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900000"/>
            <a:ext cx="5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数据说明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1230000"/>
            <a:ext cx="2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1350000"/>
            <a:ext cx="5200000" cy="2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蒙特卡洛模拟生成，参考 Swami &amp; Sadler (2000)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加入高斯噪声模拟实际信道影响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共 2000 个样本，每类调制信号 500 个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每个样本 7 个 HOC 特征 + 1 个标签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训练集 1400（70%）/ 测试集 600（30%）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0" y="626480"/>
            <a:ext cx="5600000" cy="32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000" y="900000"/>
            <a:ext cx="5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预处理步骤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000" y="1230000"/>
            <a:ext cx="2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000" y="1350000"/>
            <a:ext cx="5200000" cy="2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1. 缺失值检查：模拟数据无缺失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2. 异常值检测：概率密度分布正常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3. StandardScaler 标准化（均值0，方差1）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4. 7:3 分层抽样划分训练集/测试集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5. random_state=42 保证可复现</a:t>
            </a:r>
          </a:p>
        </p:txBody>
      </p:sp>
      <p:pic>
        <p:nvPicPr>
          <p:cNvPr id="16" name="Picture 15" descr="constel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70" y="3497580"/>
            <a:ext cx="10786745" cy="3554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二、研究内容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670" y="715125"/>
            <a:ext cx="100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E8D0F5"/>
                </a:solidFill>
                <a:latin typeface="微软雅黑" panose="020B0503020204020204" charset="-122"/>
              </a:defRPr>
            </a:pPr>
            <a:r>
              <a:t>2.2  候选模型对比与选择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5 / 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0000" y="800000"/>
          <a:ext cx="115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666"/>
                <a:gridCol w="1916666"/>
                <a:gridCol w="1916666"/>
                <a:gridCol w="1916666"/>
                <a:gridCol w="1916666"/>
                <a:gridCol w="1916670"/>
              </a:tblGrid>
              <a:tr h="433333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抗噪能力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特征重要性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可解释性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训练速度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不支持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慢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不支持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决策树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弱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支持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快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逻辑回归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3335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71395"/>
                          </a:solidFill>
                          <a:latin typeface="微软雅黑" panose="020B0503020204020204" charset="-122"/>
                        </a:defRPr>
                      </a:pPr>
                      <a:r>
                        <a:t>随机森林</a:t>
                      </a:r>
                    </a:p>
                  </a:txBody>
                  <a:tcPr>
                    <a:solidFill>
                      <a:srgbClr val="E8D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71395"/>
                          </a:solidFill>
                          <a:latin typeface="微软雅黑" panose="020B0503020204020204" charset="-122"/>
                        </a:defRPr>
                      </a:pPr>
                      <a:r>
                        <a:t>强</a:t>
                      </a:r>
                    </a:p>
                  </a:txBody>
                  <a:tcPr>
                    <a:solidFill>
                      <a:srgbClr val="E8D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71395"/>
                          </a:solidFill>
                          <a:latin typeface="微软雅黑" panose="020B0503020204020204" charset="-122"/>
                        </a:defRPr>
                      </a:pPr>
                      <a:r>
                        <a:t>支持</a:t>
                      </a:r>
                    </a:p>
                  </a:txBody>
                  <a:tcPr>
                    <a:solidFill>
                      <a:srgbClr val="E8D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71395"/>
                          </a:solidFill>
                          <a:latin typeface="微软雅黑" panose="020B0503020204020204" charset="-122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E8D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71395"/>
                          </a:solidFill>
                          <a:latin typeface="微软雅黑" panose="020B0503020204020204" charset="-122"/>
                        </a:defRPr>
                      </a:pPr>
                      <a:r>
                        <a:t>快</a:t>
                      </a:r>
                    </a:p>
                  </a:txBody>
                  <a:tcPr>
                    <a:solidFill>
                      <a:srgbClr val="E8D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71395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D0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00000" y="3700000"/>
            <a:ext cx="3600000" cy="23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00000" y="3800000"/>
            <a:ext cx="600000" cy="60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0000" y="3850000"/>
            <a:ext cx="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4500000"/>
            <a:ext cx="3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抗噪声鲁棒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4900000"/>
            <a:ext cx="32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集成投票有效抑制</a:t>
            </a:r>
          </a:p>
          <a:p>
            <a:pPr algn="ctr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单棵树对噪声过拟合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0000" y="3700000"/>
            <a:ext cx="3600000" cy="23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00000" y="3800000"/>
            <a:ext cx="600000" cy="60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00000" y="3850000"/>
            <a:ext cx="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000" y="4500000"/>
            <a:ext cx="3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特征重要性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0000" y="4900000"/>
            <a:ext cx="32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量化各HOC贡献</a:t>
            </a:r>
          </a:p>
          <a:p>
            <a:pPr algn="ctr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验证通信信号理论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0000" y="3700000"/>
            <a:ext cx="3600000" cy="23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0000" y="3800000"/>
            <a:ext cx="600000" cy="60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0000" y="3850000"/>
            <a:ext cx="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0000" y="4500000"/>
            <a:ext cx="3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可解释性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0000" y="4900000"/>
            <a:ext cx="32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决策路径可追溯</a:t>
            </a:r>
          </a:p>
          <a:p>
            <a:pPr algn="ctr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便于分析误分类原因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二、研究内容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090030"/>
            <a:ext cx="5400000" cy="26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114003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随机森林算法原理（Breiman, 2001）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1470030"/>
            <a:ext cx="35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1590030"/>
            <a:ext cx="5000000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基于 Bagging 的集成学习方法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Bootstrap 自助采样：每棵树不同训练子集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随机特征选择：m ≈ √p 个候选分裂特征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分类预测：多数投票法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降低单棵决策树的高方差，偏差基本不变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0000" y="3951460"/>
            <a:ext cx="5400000" cy="24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400146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超参数搜索空间（GridSearchCV + 5折CV）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4331460"/>
            <a:ext cx="35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4652285"/>
            <a:ext cx="50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n_estimators: [50, 100, 200]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max_depth: [5, 10, 20, None]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min_samples_split: [2, 5, 10]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36 种组合 × 5 折 CV = 180 次训练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00000" y="3700000"/>
            <a:ext cx="5800000" cy="2400000"/>
          </a:xfrm>
          <a:prstGeom prst="roundRect">
            <a:avLst/>
          </a:prstGeom>
          <a:solidFill>
            <a:srgbClr val="771395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0000" y="3750000"/>
            <a:ext cx="54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最优超参数组合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0" y="4080000"/>
            <a:ext cx="25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0000" y="4150000"/>
            <a:ext cx="54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n_estimators = 200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max_depth = 10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min_samples_split = 10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5 折 CV 准确率：86.50% ± 1.73%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测试集准确率：90.83%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二、研究内容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670" y="715125"/>
            <a:ext cx="100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E8D0F5"/>
                </a:solidFill>
                <a:latin typeface="微软雅黑" panose="020B0503020204020204" charset="-122"/>
              </a:defRPr>
            </a:pPr>
            <a:r>
              <a:t>2.4  混淆矩阵与特征重要性分析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7 / 17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00" y="800000"/>
            <a:ext cx="5800000" cy="5342996"/>
          </a:xfrm>
          <a:prstGeom prst="rect">
            <a:avLst/>
          </a:prstGeom>
        </p:spPr>
      </p:pic>
      <p:pic>
        <p:nvPicPr>
          <p:cNvPr id="9" name="Picture 8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0" y="800000"/>
            <a:ext cx="5800000" cy="403083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00000" y="4200000"/>
            <a:ext cx="11500000" cy="20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4250000"/>
            <a:ext cx="11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分析要点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4580000"/>
            <a:ext cx="2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4650000"/>
            <a:ext cx="110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BPSK 识别率 100%：C20=1.00 可唯一区分，零误分类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8PSK 识别率 98.0%：C40=C41=0.00 与其他调制差异明显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主要误分类：QPSK ↔ 16QAM（47% 差异在噪声下重叠）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C41(30.6%) + C40(29.0%) 合计贡献近 60%，验证通信理论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二、研究内容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8 / 17</a:t>
            </a:r>
          </a:p>
        </p:txBody>
      </p:sp>
      <p:pic>
        <p:nvPicPr>
          <p:cNvPr id="8" name="Picture 7" descr="roc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65" y="655955"/>
            <a:ext cx="6240780" cy="6136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00000" y="900000"/>
            <a:ext cx="4500000" cy="68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0000" y="1050000"/>
            <a:ext cx="1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BPSK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0" y="1050000"/>
            <a:ext cx="1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1.0000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0" y="1050000"/>
            <a:ext cx="1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完美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0000" y="1700000"/>
            <a:ext cx="4500000" cy="68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0000" y="1850000"/>
            <a:ext cx="1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8PSK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0" y="1850000"/>
            <a:ext cx="1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0.9977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00" y="1850000"/>
            <a:ext cx="1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极佳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000" y="2500000"/>
            <a:ext cx="4500000" cy="68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0000" y="2650000"/>
            <a:ext cx="1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QPSK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0" y="2650000"/>
            <a:ext cx="1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0.9682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00" y="2650000"/>
            <a:ext cx="1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优秀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0000" y="3300000"/>
            <a:ext cx="4500000" cy="68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00000" y="3450000"/>
            <a:ext cx="1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16QAM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0" y="3450000"/>
            <a:ext cx="1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0.9578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0000" y="3450000"/>
            <a:ext cx="1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良好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0000" y="4100000"/>
            <a:ext cx="4500000" cy="680000"/>
          </a:xfrm>
          <a:prstGeom prst="roundRect">
            <a:avLst/>
          </a:prstGeom>
          <a:solidFill>
            <a:srgbClr val="771395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00000" y="4250000"/>
            <a:ext cx="1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微平均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000" y="4250000"/>
            <a:ext cx="1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0.9880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0000" y="4250000"/>
            <a:ext cx="1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D0F5"/>
                </a:solidFill>
                <a:latin typeface="微软雅黑" panose="020B0503020204020204" charset="-122"/>
              </a:defRPr>
            </a:pPr>
            <a:r>
              <a:t>极佳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9960" y="5074920"/>
            <a:ext cx="4499610" cy="120015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ym typeface="+mn-ea"/>
            </a:endParaRPr>
          </a:p>
          <a:p>
            <a:pPr algn="ctr"/>
            <a:endParaRPr>
              <a:sym typeface="+mn-ea"/>
            </a:endParaRPr>
          </a:p>
          <a:p>
            <a:pPr algn="ctr"/>
            <a:r>
              <a:rPr>
                <a:sym typeface="+mn-ea"/>
              </a:rPr>
              <a:t>16QAM AUC 最低（0.9578），反映 QPSK-16QAM 混淆</a:t>
            </a:r>
            <a:endParaRPr>
              <a:sym typeface="+mn-ea"/>
            </a:endParaRPr>
          </a:p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0005" y="5154140"/>
            <a:ext cx="63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ROC 曲线解读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00" y="5350000"/>
            <a:ext cx="6300000" cy="17583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所有类别 AUC &gt; 0.95，模型具有极佳的分类区分能力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BPSK AUC = 1.0000（完美），与混淆矩阵零误分类一致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二、研究内容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9 / 17</a:t>
            </a:r>
          </a:p>
        </p:txBody>
      </p:sp>
      <p:pic>
        <p:nvPicPr>
          <p:cNvPr id="8" name="Picture 7" descr="learning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00" y="800000"/>
            <a:ext cx="5800000" cy="4258926"/>
          </a:xfrm>
          <a:prstGeom prst="rect">
            <a:avLst/>
          </a:prstGeom>
        </p:spPr>
      </p:pic>
      <p:pic>
        <p:nvPicPr>
          <p:cNvPr id="9" name="Picture 8" descr="sn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0" y="800000"/>
            <a:ext cx="5800000" cy="44045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00000" y="3800000"/>
            <a:ext cx="5600000" cy="24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850000"/>
            <a:ext cx="52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学习曲线分析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4130000"/>
            <a:ext cx="25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4200000"/>
            <a:ext cx="52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训练准确率 94.9%，CV 准确率 87.1%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训练-CV 差距 7.8%，无严重过拟合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2000 样本对 7 维特征已基本充足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继续增加数据的边际收益递减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0" y="3800000"/>
            <a:ext cx="5600000" cy="24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000" y="3850000"/>
            <a:ext cx="52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SNR 扫描实验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000" y="4130000"/>
            <a:ext cx="25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000" y="4200000"/>
            <a:ext cx="52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SNR=0dB → 89%（远高于随机猜测 25%）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SNR 5-10dB 区间快速提升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SNR≥15dB → 100% 完美识别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拐点 10dB：系统设计的关键指标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二、研究内容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10 / 17</a:t>
            </a:r>
          </a:p>
        </p:txBody>
      </p:sp>
      <p:pic>
        <p:nvPicPr>
          <p:cNvPr id="8" name="Picture 7" descr="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00" y="800000"/>
            <a:ext cx="7500000" cy="3389965"/>
          </a:xfrm>
          <a:prstGeom prst="rect">
            <a:avLst/>
          </a:prstGeom>
        </p:spPr>
      </p:pic>
      <p:pic>
        <p:nvPicPr>
          <p:cNvPr id="9" name="Picture 8" descr="f1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000" y="800000"/>
            <a:ext cx="4200000" cy="283596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00000" y="4200000"/>
          <a:ext cx="115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2300000"/>
                <a:gridCol w="2300000"/>
                <a:gridCol w="2300000"/>
                <a:gridCol w="2300000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宏平均F1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训练时间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测试时间</a:t>
                      </a:r>
                    </a:p>
                  </a:txBody>
                  <a:tcPr>
                    <a:solidFill>
                      <a:srgbClr val="77139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71395"/>
                          </a:solidFill>
                          <a:latin typeface="微软雅黑" panose="020B0503020204020204" charset="-122"/>
                        </a:defRPr>
                      </a:pPr>
                      <a:r>
                        <a:t>随机森林</a:t>
                      </a:r>
                    </a:p>
                  </a:txBody>
                  <a:tcPr>
                    <a:solidFill>
                      <a:srgbClr val="E8D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71395"/>
                          </a:solidFill>
                          <a:latin typeface="微软雅黑" panose="020B0503020204020204" charset="-122"/>
                        </a:defRPr>
                      </a:pPr>
                      <a:r>
                        <a:t>90.83%</a:t>
                      </a:r>
                    </a:p>
                  </a:txBody>
                  <a:tcPr>
                    <a:solidFill>
                      <a:srgbClr val="E8D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71395"/>
                          </a:solidFill>
                          <a:latin typeface="微软雅黑" panose="020B0503020204020204" charset="-122"/>
                        </a:defRPr>
                      </a:pPr>
                      <a:r>
                        <a:t>0.907</a:t>
                      </a:r>
                    </a:p>
                  </a:txBody>
                  <a:tcPr>
                    <a:solidFill>
                      <a:srgbClr val="E8D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71395"/>
                          </a:solidFill>
                          <a:latin typeface="微软雅黑" panose="020B0503020204020204" charset="-122"/>
                        </a:defRPr>
                      </a:pPr>
                      <a:r>
                        <a:t>&lt; 1s</a:t>
                      </a:r>
                    </a:p>
                  </a:txBody>
                  <a:tcPr>
                    <a:solidFill>
                      <a:srgbClr val="E8D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71395"/>
                          </a:solidFill>
                          <a:latin typeface="微软雅黑" panose="020B0503020204020204" charset="-122"/>
                        </a:defRPr>
                      </a:pPr>
                      <a:r>
                        <a:t>&lt; 0.1s*</a:t>
                      </a:r>
                    </a:p>
                  </a:txBody>
                  <a:tcPr>
                    <a:solidFill>
                      <a:srgbClr val="E8D0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决策树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82.67%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0.826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&lt; 0.1s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&lt; 0.01s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KNN (k=5)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83.17%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0.828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&lt; 0.5s</a:t>
                      </a:r>
                    </a:p>
                  </a:txBody>
                  <a:tcPr>
                    <a:solidFill>
                      <a:srgbClr val="F8F2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00000" y="5900000"/>
            <a:ext cx="11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* 随机森林因已被 GridSearchCV 训练完成，此处仅计测试时间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三、课题分解与技术路线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11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" y="850000"/>
            <a:ext cx="1500000" cy="2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000" y="1000000"/>
            <a:ext cx="450000" cy="45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1050000"/>
            <a:ext cx="45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1550000"/>
            <a:ext cx="13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数据预处理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1850000"/>
            <a:ext cx="1100000" cy="8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00" y="1950000"/>
            <a:ext cx="13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缺失值检查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异常值检测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标准化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分层抽样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00000" y="850000"/>
            <a:ext cx="1500000" cy="2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00000" y="1000000"/>
            <a:ext cx="450000" cy="45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0000" y="1050000"/>
            <a:ext cx="45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T2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000" y="1550000"/>
            <a:ext cx="13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模型对比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0000" y="1850000"/>
            <a:ext cx="1100000" cy="8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00000" y="1950000"/>
            <a:ext cx="13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KNN / SVM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决策树 / LR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随机森林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多维度评估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0000" y="850000"/>
            <a:ext cx="1500000" cy="2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00000" y="1000000"/>
            <a:ext cx="450000" cy="45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0000" y="1050000"/>
            <a:ext cx="45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T3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0" y="1550000"/>
            <a:ext cx="13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超参数调优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0000" y="1850000"/>
            <a:ext cx="1100000" cy="8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0" y="1950000"/>
            <a:ext cx="13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GridSearchCV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5折交叉验证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36种组合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180次训练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00000" y="850000"/>
            <a:ext cx="1500000" cy="2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00000" y="1000000"/>
            <a:ext cx="450000" cy="45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0000" y="1050000"/>
            <a:ext cx="45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T4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0000" y="1550000"/>
            <a:ext cx="13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SNR扫描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0000" y="1850000"/>
            <a:ext cx="1100000" cy="8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00000" y="1950000"/>
            <a:ext cx="13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不同SNR数据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信道鲁棒性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性能拐点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S形曲线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00000" y="850000"/>
            <a:ext cx="1500000" cy="2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00000" y="1000000"/>
            <a:ext cx="450000" cy="45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0000" y="1050000"/>
            <a:ext cx="45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T5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0000" y="1550000"/>
            <a:ext cx="13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基线对比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0000" y="1850000"/>
            <a:ext cx="1100000" cy="8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00000" y="1950000"/>
            <a:ext cx="13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RF vs DT vs KNN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准确率/F1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训练时间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集成优势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0000" y="850000"/>
            <a:ext cx="1500000" cy="2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800000" y="1000000"/>
            <a:ext cx="450000" cy="45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00000" y="1050000"/>
            <a:ext cx="45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T6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0000" y="1550000"/>
            <a:ext cx="13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特征重要性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0000" y="1850000"/>
            <a:ext cx="1100000" cy="8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0000" y="1950000"/>
            <a:ext cx="13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MDI准则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四阶累积量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理论验证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贡献排序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00000" y="850000"/>
            <a:ext cx="1500000" cy="28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0000" y="1000000"/>
            <a:ext cx="450000" cy="450000"/>
          </a:xfrm>
          <a:prstGeom prst="ellipse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0000" y="1050000"/>
            <a:ext cx="45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T7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00000" y="1550000"/>
            <a:ext cx="13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综合评估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00000" y="1850000"/>
            <a:ext cx="1100000" cy="8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00000" y="1950000"/>
            <a:ext cx="13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混淆矩阵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ROC/AUC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学习曲线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星座图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0000" y="4000000"/>
            <a:ext cx="11500000" cy="2200000"/>
          </a:xfrm>
          <a:prstGeom prst="roundRect">
            <a:avLst/>
          </a:prstGeom>
          <a:solidFill>
            <a:srgbClr val="771395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0000" y="4050000"/>
            <a:ext cx="11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技术路线总结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0000" y="4380000"/>
            <a:ext cx="25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0000" y="4450000"/>
            <a:ext cx="110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数据生成（蒙特卡洛模拟）→ 预处理（标准化 + 分层抽样）→ 特征提取（7维 HOC）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→ 候选模型对比（5种算法）→ 选定随机森林 → GridSearchCV 超参数调优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→ SNR 扫描实验 → 基线对比 → 特征重要性分析 → 混淆矩阵 / ROC / 学习曲线评估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四、任务分解与进度安排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12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0" y="1000000"/>
            <a:ext cx="9600000" cy="4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0" y="1030000"/>
            <a:ext cx="1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第1周</a:t>
            </a:r>
          </a:p>
        </p:txBody>
      </p:sp>
      <p:sp>
        <p:nvSpPr>
          <p:cNvPr id="9" name="Rectangle 8"/>
          <p:cNvSpPr/>
          <p:nvPr/>
        </p:nvSpPr>
        <p:spPr>
          <a:xfrm>
            <a:off x="2200000" y="1400000"/>
            <a:ext cx="8000" cy="4400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0000" y="1030000"/>
            <a:ext cx="1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第2周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0000" y="1400000"/>
            <a:ext cx="8000" cy="4400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0000" y="1030000"/>
            <a:ext cx="1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第3周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0000" y="1400000"/>
            <a:ext cx="8000" cy="4400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0000" y="1030000"/>
            <a:ext cx="1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第4周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0000" y="1400000"/>
            <a:ext cx="8000" cy="4400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0000" y="1030000"/>
            <a:ext cx="1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第5周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0" y="1400000"/>
            <a:ext cx="8000" cy="4400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0000" y="1030000"/>
            <a:ext cx="1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第6周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0000" y="1400000"/>
            <a:ext cx="8000" cy="4400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00" y="1030000"/>
            <a:ext cx="1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第7周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00000" y="1400000"/>
            <a:ext cx="8000" cy="4400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0000" y="1030000"/>
            <a:ext cx="12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第8周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0000" y="1400000"/>
            <a:ext cx="8000" cy="4400000"/>
          </a:xfrm>
          <a:prstGeom prst="rect">
            <a:avLst/>
          </a:prstGeom>
          <a:solidFill>
            <a:srgbClr val="C88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00000" y="1500000"/>
            <a:ext cx="9600000" cy="600000"/>
          </a:xfrm>
          <a:prstGeom prst="rect">
            <a:avLst/>
          </a:prstGeom>
          <a:solidFill>
            <a:srgbClr val="2D0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0000" y="1600000"/>
            <a:ext cx="1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数据准备与预处理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50000" y="1600000"/>
            <a:ext cx="2300000" cy="400000"/>
          </a:xfrm>
          <a:prstGeom prst="round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0000" y="2300000"/>
            <a:ext cx="1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代码编写与调试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0000" y="2300000"/>
            <a:ext cx="3500000" cy="400000"/>
          </a:xfrm>
          <a:prstGeom prst="roundRect">
            <a:avLst/>
          </a:prstGeom>
          <a:solidFill>
            <a:srgbClr val="9B40B8"/>
          </a:solidFill>
          <a:ln>
            <a:noFill/>
          </a:ln>
          <a:effectLst>
            <a:outerShdw blurRad="200000" dist="38100" dir="5400000" algn="ctr" rotWithShape="0">
              <a:srgbClr val="1E2B4D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00000" y="2900000"/>
            <a:ext cx="9600000" cy="600000"/>
          </a:xfrm>
          <a:prstGeom prst="rect">
            <a:avLst/>
          </a:prstGeom>
          <a:solidFill>
            <a:srgbClr val="2D0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0000" y="3000000"/>
            <a:ext cx="1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超参数调优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0000" y="3000000"/>
            <a:ext cx="2300000" cy="400000"/>
          </a:xfrm>
          <a:prstGeom prst="roundRect">
            <a:avLst/>
          </a:prstGeom>
          <a:solidFill>
            <a:srgbClr val="C88DE0"/>
          </a:solidFill>
          <a:ln>
            <a:noFill/>
          </a:ln>
          <a:effectLst>
            <a:outerShdw blurRad="200000" dist="38100" dir="5400000" algn="ctr" rotWithShape="0">
              <a:srgbClr val="1E2B4D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0000" y="3700000"/>
            <a:ext cx="1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SNR扫描与对比实验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0000" y="3700000"/>
            <a:ext cx="2300000" cy="4000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>
            <a:outerShdw blurRad="200000" dist="38100" dir="5400000" algn="ctr" rotWithShape="0">
              <a:srgbClr val="1E2B4D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00000" y="4300000"/>
            <a:ext cx="9600000" cy="600000"/>
          </a:xfrm>
          <a:prstGeom prst="rect">
            <a:avLst/>
          </a:prstGeom>
          <a:solidFill>
            <a:srgbClr val="2D0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0000" y="4400000"/>
            <a:ext cx="1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结果分析与可视化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50000" y="4400000"/>
            <a:ext cx="2300000" cy="400000"/>
          </a:xfrm>
          <a:prstGeom prst="roundRect">
            <a:avLst/>
          </a:prstGeom>
          <a:solidFill>
            <a:srgbClr val="A569BD"/>
          </a:solidFill>
          <a:ln>
            <a:noFill/>
          </a:ln>
          <a:effectLst>
            <a:outerShdw blurRad="200000" dist="38100" dir="5400000" algn="ctr" rotWithShape="0">
              <a:srgbClr val="1E2B4D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0000" y="5100000"/>
            <a:ext cx="1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报告撰写与排版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50000" y="5100000"/>
            <a:ext cx="2300000" cy="400000"/>
          </a:xfrm>
          <a:prstGeom prst="roundRect">
            <a:avLst/>
          </a:prstGeom>
          <a:solidFill>
            <a:srgbClr val="FFD700"/>
          </a:solidFill>
          <a:ln>
            <a:noFill/>
          </a:ln>
          <a:effectLst>
            <a:outerShdw blurRad="200000" dist="38100" dir="5400000" algn="ctr" rotWithShape="0">
              <a:srgbClr val="1E2B4D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00000" y="5400000"/>
            <a:ext cx="11500000" cy="9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0000" y="5500000"/>
            <a:ext cx="11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各阶段存在重叠，体现迭代优化过程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工具：Google Colab（云端 GPU）+ Python 3.12 + scikit-learn + matplotlib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四、研发团队与工作基础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13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" y="850000"/>
            <a:ext cx="5400000" cy="53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90000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项目负责人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1230000"/>
            <a:ext cx="2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00000" y="1400000"/>
            <a:ext cx="1200000" cy="1200000"/>
          </a:xfrm>
          <a:prstGeom prst="ellipse">
            <a:avLst/>
          </a:prstGeom>
          <a:solidFill>
            <a:srgbClr val="E8D0F5"/>
          </a:solidFill>
          <a:ln w="25400">
            <a:solidFill>
              <a:srgbClr val="771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0000" y="1700000"/>
            <a:ext cx="12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曾俊超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2800000"/>
            <a:ext cx="5000000" cy="3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班    级：电子信息工程2302班 #15号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学    院：智能科学与工程学院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角    色：独立完成全部工作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职责范围：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  数据生成与预处理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  算法实现与超参数调优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  实验设计与执行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  结果分析与报告撰写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0000" y="850000"/>
            <a:ext cx="5800000" cy="24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0000" y="900000"/>
            <a:ext cx="54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开发环境与工具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1230000"/>
            <a:ext cx="2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0" y="1350000"/>
            <a:ext cx="54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Google Colab（云端 GPU 加速）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Python 3.12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scikit-learn（sklearn）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numpy + pandas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matplotlib + seaborn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0000" y="3500000"/>
            <a:ext cx="5800000" cy="265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0000" y="3550000"/>
            <a:ext cx="54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知识储备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0000" y="3880000"/>
            <a:ext cx="2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0000" y="3950000"/>
            <a:ext cx="5400000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Python 编程及 sklearn 机器学习库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高阶累积量数学定义及应用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随机森林/决策树/KNN 算法原理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GridSearchCV 超参数调优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混淆矩阵/ROC/学习曲线评估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五、预期成果与风险分析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14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" y="850000"/>
            <a:ext cx="5400000" cy="75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000000"/>
            <a:ext cx="2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D700"/>
                </a:solidFill>
                <a:latin typeface="Arial" panose="020B0604020202020204"/>
              </a:defRPr>
            </a:pPr>
            <a:r>
              <a:t>90.83%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0000" y="1050000"/>
            <a:ext cx="3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测试集准确率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1750000"/>
            <a:ext cx="5400000" cy="75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1900000"/>
            <a:ext cx="2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D700"/>
                </a:solidFill>
                <a:latin typeface="Arial" panose="020B0604020202020204"/>
              </a:defRPr>
            </a:pPr>
            <a:r>
              <a:t>0.9880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1950000"/>
            <a:ext cx="3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微平均 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0000" y="2650000"/>
            <a:ext cx="5400000" cy="75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2800000"/>
            <a:ext cx="2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D700"/>
                </a:solidFill>
                <a:latin typeface="Arial" panose="020B0604020202020204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0000" y="2850000"/>
            <a:ext cx="3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BPSK 识别率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000" y="3550000"/>
            <a:ext cx="5400000" cy="75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3700000"/>
            <a:ext cx="2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D700"/>
                </a:solidFill>
                <a:latin typeface="Arial" panose="020B0604020202020204"/>
              </a:defRPr>
            </a:pPr>
            <a:r>
              <a:t>93.4%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0000" y="3750000"/>
            <a:ext cx="3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前4特征贡献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0000" y="850000"/>
            <a:ext cx="5800000" cy="155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00000" y="1000000"/>
            <a:ext cx="400000" cy="40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0000" y="1040000"/>
            <a:ext cx="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0000" y="1000000"/>
            <a:ext cx="49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C00000"/>
                </a:solidFill>
                <a:latin typeface="微软雅黑" panose="020B0503020204020204" charset="-122"/>
              </a:defRPr>
            </a:pPr>
            <a:r>
              <a:t>QPSK/16QAM 混淆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0000" y="1350000"/>
            <a:ext cx="49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风险：两者共享 C20=0、C21=1，仅靠 47% 差异区分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0000" y="1700000"/>
            <a:ext cx="49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改进：增加观测窗口；引入辅助特征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00000" y="2600000"/>
            <a:ext cx="5800000" cy="155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00000" y="2750000"/>
            <a:ext cx="400000" cy="40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0" y="2790000"/>
            <a:ext cx="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0000" y="2750000"/>
            <a:ext cx="49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C00000"/>
                </a:solidFill>
                <a:latin typeface="微软雅黑" panose="020B0503020204020204" charset="-122"/>
              </a:defRPr>
            </a:pPr>
            <a:r>
              <a:t>低 SNR 性能下降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0000" y="3100000"/>
            <a:ext cx="49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风险：SNR=0dB 时准确率降至 89%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0000" y="3450000"/>
            <a:ext cx="49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改进：自适应噪声抑制；深度学习方法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00000" y="4350000"/>
            <a:ext cx="5800000" cy="155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00000" y="4500000"/>
            <a:ext cx="400000" cy="40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0000" y="4540000"/>
            <a:ext cx="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0000" y="4500000"/>
            <a:ext cx="49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C00000"/>
                </a:solidFill>
                <a:latin typeface="微软雅黑" panose="020B0503020204020204" charset="-122"/>
              </a:defRPr>
            </a:pPr>
            <a:r>
              <a:t>模拟数据局限性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0000" y="4850000"/>
            <a:ext cx="49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风险：蒙特卡洛模拟无法完全反映真实信道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0000" y="5200000"/>
            <a:ext cx="49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改进：采集 HackRF/USRP 真实数据验证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0000" y="6000000"/>
            <a:ext cx="11500000" cy="450000"/>
          </a:xfrm>
          <a:prstGeom prst="round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0000" y="6050000"/>
            <a:ext cx="11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未来改进：真实 SDR 数据 → 深度学习（CNN/LSTM）→ 更多调制类型（OFDM/GMSK/APSK）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771395"/>
          </a:solidFill>
          <a:ln>
            <a:noFill/>
          </a:ln>
          <a:effectLst>
            <a:outerShdw blurRad="200000" dist="38100" dir="5400000" algn="ctr" rotWithShape="0">
              <a:srgbClr val="1E2B4D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0000"/>
            <a:ext cx="12192000" cy="15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8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五、总结与展望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92000" y="650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0">
                <a:solidFill>
                  <a:srgbClr val="C88DE0"/>
                </a:solidFill>
                <a:latin typeface="微软雅黑" panose="020B0503020204020204" charset="-122"/>
              </a:defRPr>
            </a:pPr>
            <a:r>
              <a:t>15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" y="850000"/>
            <a:ext cx="5400000" cy="24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90000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项目成果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1230000"/>
            <a:ext cx="2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1350000"/>
            <a:ext cx="50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成功构建 HOC + RF 调制识别系统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测试集准确率 90.83%，AUC 0.9880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可靠区分 BPSK/QPSK/8PSK/16QAM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SNR≥10dB 即可实现接近完美识别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0" y="850000"/>
            <a:ext cx="5800000" cy="24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0000" y="900000"/>
            <a:ext cx="54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核心发现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0000" y="1230000"/>
            <a:ext cx="2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0000" y="1350000"/>
            <a:ext cx="54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四阶累积量（C40/C41/C42）是主导特征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合计贡献 93.4%，验证通信理论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QPSK-16QAM 混淆是主要误差来源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随机森林显著优于单棵决策树和KNN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000" y="3500000"/>
            <a:ext cx="5400000" cy="24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355000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实践收获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3880000"/>
            <a:ext cx="2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3950000"/>
            <a:ext cx="50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掌握完整 ML 项目流程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深入理解 GridSearchCV 工作机制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学会用多种手段全面评估分类器</a:t>
            </a:r>
          </a:p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理解高阶累积量的物理意义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0000" y="3500000"/>
            <a:ext cx="5800000" cy="2400000"/>
          </a:xfrm>
          <a:prstGeom prst="roundRect">
            <a:avLst/>
          </a:prstGeom>
          <a:solidFill>
            <a:srgbClr val="2D0A3F"/>
          </a:solidFill>
          <a:ln>
            <a:noFill/>
          </a:ln>
          <a:effectLst>
            <a:outerShdw blurRad="508000" dist="38100" dir="5400000" algn="ctr" rotWithShape="0">
              <a:srgbClr val="1E2B4D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0000" y="3550000"/>
            <a:ext cx="54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主要参考文献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0" y="3880000"/>
            <a:ext cx="20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0" y="3950000"/>
            <a:ext cx="54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200"/>
              </a:lnSpc>
              <a:defRPr sz="1600" b="0">
                <a:solidFill>
                  <a:srgbClr val="FFFFFF"/>
                </a:solidFill>
                <a:latin typeface="Arial" panose="020B0604020202020204"/>
              </a:defRPr>
            </a:pPr>
            <a:r>
              <a:t>  [1] Dobre et al., IET Commun., 2007</a:t>
            </a:r>
          </a:p>
          <a:p>
            <a:pPr algn="l">
              <a:lnSpc>
                <a:spcPts val="2200"/>
              </a:lnSpc>
              <a:defRPr sz="1600" b="0">
                <a:solidFill>
                  <a:srgbClr val="FFFFFF"/>
                </a:solidFill>
                <a:latin typeface="Arial" panose="020B0604020202020204"/>
              </a:defRPr>
            </a:pPr>
            <a:r>
              <a:t>  [2] Wei &amp; Mendel, IEEE Trans. Commun., 2000</a:t>
            </a:r>
          </a:p>
          <a:p>
            <a:pPr algn="l">
              <a:lnSpc>
                <a:spcPts val="2200"/>
              </a:lnSpc>
              <a:defRPr sz="1600" b="0">
                <a:solidFill>
                  <a:srgbClr val="FFFFFF"/>
                </a:solidFill>
                <a:latin typeface="Arial" panose="020B0604020202020204"/>
              </a:defRPr>
            </a:pPr>
            <a:r>
              <a:t>  [3] Swami &amp; Sadler, IEEE Trans. Commun., 2000</a:t>
            </a:r>
          </a:p>
          <a:p>
            <a:pPr algn="l">
              <a:lnSpc>
                <a:spcPts val="2200"/>
              </a:lnSpc>
              <a:defRPr sz="1600" b="0">
                <a:solidFill>
                  <a:srgbClr val="FFFFFF"/>
                </a:solidFill>
                <a:latin typeface="Arial" panose="020B0604020202020204"/>
              </a:defRPr>
            </a:pPr>
            <a:r>
              <a:t>  [4] Spooner, IEEE Trans. Signal Process., 1998</a:t>
            </a:r>
          </a:p>
          <a:p>
            <a:pPr algn="l">
              <a:lnSpc>
                <a:spcPts val="2200"/>
              </a:lnSpc>
              <a:defRPr sz="1600" b="0">
                <a:solidFill>
                  <a:srgbClr val="FFFFFF"/>
                </a:solidFill>
                <a:latin typeface="Arial" panose="020B0604020202020204"/>
              </a:defRPr>
            </a:pPr>
            <a:r>
              <a:t>  [5] Breiman, Machine Learning, 2001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0000"/>
            <a:ext cx="12192000" cy="12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8000"/>
            <a:ext cx="12192000" cy="500000"/>
          </a:xfrm>
          <a:prstGeom prst="rect">
            <a:avLst/>
          </a:prstGeom>
          <a:solidFill>
            <a:srgbClr val="771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46000"/>
            <a:ext cx="12192000" cy="12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0000" y="1200000"/>
            <a:ext cx="50000" cy="4200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000" y="1800000"/>
            <a:ext cx="98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2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rPr sz="5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感谢聆听</a:t>
            </a:r>
            <a:endParaRPr sz="5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00000" y="2800000"/>
            <a:ext cx="9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E8D0F5"/>
                </a:solidFill>
                <a:latin typeface="微软雅黑" panose="020B0503020204020204" charset="-122"/>
              </a:defRPr>
            </a:pPr>
            <a:r>
              <a:rPr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欢迎各位老师批评指正</a:t>
            </a:r>
            <a:endParaRPr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00000" y="3500000"/>
            <a:ext cx="4200000" cy="80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480" y="4133850"/>
            <a:ext cx="11450955" cy="99949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9988AA"/>
                </a:solidFill>
                <a:latin typeface="微软雅黑" panose="020B0503020204020204" charset="-122"/>
              </a:defRPr>
            </a:pPr>
            <a:r>
              <a:rPr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汇报人：曾俊超  |  电子信息工程2302班  |  智能科学与工程学院</a:t>
            </a:r>
            <a:endParaRPr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00000" y="5800150"/>
            <a:ext cx="98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988AA"/>
                </a:solidFill>
                <a:latin typeface="微软雅黑" panose="020B0503020204020204" charset="-122"/>
              </a:defRPr>
            </a:pPr>
            <a:r>
              <a:t>2026 年 6 月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11*130"/>
  <p:tag name="TABLE_ENDDRAG_RECT" val="16*402*511*13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4200</Words>
  <Application>WPS 演示</Application>
  <PresentationFormat>On-screen Show (4:3)</PresentationFormat>
  <Paragraphs>645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ʕ̯•͡˔•̯᷅ʔAyy拒绝暧昧</cp:lastModifiedBy>
  <cp:revision>5</cp:revision>
  <dcterms:created xsi:type="dcterms:W3CDTF">2013-01-27T09:14:00Z</dcterms:created>
  <dcterms:modified xsi:type="dcterms:W3CDTF">2026-05-22T04:13:31Z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60D47F1F39F04F68B3ACA5016053D6F1_12</vt:lpwstr>
  </property>
  <property fmtid="{D5CDD505-2E9C-101B-9397-08002B2CF9AE}" pid="3" name="KSOProductBuildVer">
    <vt:lpwstr>2052-12.1.0.23125</vt:lpwstr>
  </property>
</Properties>
</file>